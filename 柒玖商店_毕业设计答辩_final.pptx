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Microsoft YaHei"/>
              </a:defRPr>
            </a:pPr>
            <a:r>
              <a:t>"柒玖商店"</a:t>
            </a:r>
          </a:p>
          <a:p>
            <a:pPr algn="ctr">
              <a:spcBef>
                <a:spcPts val="1200"/>
              </a:spcBef>
              <a:defRPr sz="2600" b="0">
                <a:solidFill>
                  <a:srgbClr val="BFDBFE"/>
                </a:solidFill>
                <a:latin typeface="Microsoft YaHei"/>
              </a:defRPr>
            </a:pPr>
            <a:r>
              <a:t>基于SpringBoot多前端多平台的商城系统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17520"/>
            <a:ext cx="5760720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毕业设计答辩</a:t>
            </a:r>
          </a:p>
          <a:p>
            <a:pPr algn="ctr">
              <a:spcBef>
                <a:spcPts val="1400"/>
              </a:spcBef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姓   名：李  鑫</a:t>
            </a:r>
          </a:p>
          <a:p>
            <a:pPr algn="ctr">
              <a:spcBef>
                <a:spcPts val="1400"/>
              </a:spcBef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学   号：202330302152</a:t>
            </a:r>
          </a:p>
          <a:p>
            <a:pPr algn="ctr">
              <a:spcBef>
                <a:spcPts val="1400"/>
              </a:spcBef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专   业：软件技术  |  班 级：2307</a:t>
            </a:r>
          </a:p>
          <a:p>
            <a:pPr algn="ctr">
              <a:spcBef>
                <a:spcPts val="1400"/>
              </a:spcBef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指导教师：彭德宇</a:t>
            </a:r>
          </a:p>
          <a:p>
            <a:pPr algn="ctr">
              <a:spcBef>
                <a:spcPts val="1400"/>
              </a:spcBef>
              <a:defRPr sz="1600" b="0">
                <a:solidFill>
                  <a:srgbClr val="BFDBFE"/>
                </a:solidFill>
                <a:latin typeface="Microsoft YaHei"/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65D"/>
                </a:solidFill>
                <a:latin typeface="Microsoft YaHei"/>
              </a:defRPr>
            </a:pPr>
            <a:r>
              <a:t>答辩大纲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65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5270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项目背景与选题意义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电子商务发展趋势、市场规模与课题价值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365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2048255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84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技术架构概述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前后端技术选型、系统架构与部署方案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51175"/>
            <a:ext cx="365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569463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054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需求分析与功能模块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用户端10模块 + 管理端10模块功能矩阵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72383"/>
            <a:ext cx="365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09067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26663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数据库设计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12张核心数据表结构、ER关系与设计特点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93591"/>
            <a:ext cx="365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61187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47871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功能演示—用户端(上)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首页/搜索/商品详情(双端)/购物车/结算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799"/>
            <a:ext cx="365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4133087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6907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功能演示—用户端(下)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订单管理/收货地址/个人中心/AI客服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36007"/>
            <a:ext cx="365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46542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功能演示—管理端(上)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仪表盘/用户管理/分类管理/商品管理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57216"/>
            <a:ext cx="365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517550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114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功能演示—管理端(下)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订单管理/Banner管理/评价管理/系统设置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678424"/>
            <a:ext cx="365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56967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6327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AI智能客服(核心亮点)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DeepSeek集成、RAG简化实现、关联词推荐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199632"/>
            <a:ext cx="3657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" y="6217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61539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作品测试与项目总结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37测试用例、8个技术问题、成果与展望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一、项目背景 — 电商发展现状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347472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3291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15万亿+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2025年中国网络零售市场规模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463040"/>
            <a:ext cx="347472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59" y="1572768"/>
            <a:ext cx="3291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30%+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占社会消费品零售总额比重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347472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572768"/>
            <a:ext cx="3291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7×24h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电商突破时空限制全天候服务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65D"/>
                </a:solidFill>
                <a:latin typeface="Microsoft YaHei"/>
              </a:defRPr>
            </a:pPr>
            <a:r>
              <a:t>行业趋势</a:t>
            </a:r>
          </a:p>
          <a:p>
            <a:pPr algn="l">
              <a:spcBef>
                <a:spcPts val="1200"/>
              </a:spcBef>
              <a:defRPr sz="1400" b="0">
                <a:solidFill>
                  <a:srgbClr val="1A365D"/>
                </a:solidFill>
                <a:latin typeface="Microsoft YaHei"/>
              </a:defRPr>
            </a:pPr>
            <a:r>
              <a:t>• 移动支付普及率超90%，线上消费习惯已全面养成</a:t>
            </a:r>
          </a:p>
          <a:p>
            <a:pPr algn="l">
              <a:spcBef>
                <a:spcPts val="1200"/>
              </a:spcBef>
              <a:defRPr sz="1400" b="0">
                <a:solidFill>
                  <a:srgbClr val="1A365D"/>
                </a:solidFill>
                <a:latin typeface="Microsoft YaHei"/>
              </a:defRPr>
            </a:pPr>
            <a:r>
              <a:t>• AI大模型(DeepSeek等)为电商智能化带来新可能</a:t>
            </a:r>
          </a:p>
          <a:p>
            <a:pPr algn="l">
              <a:spcBef>
                <a:spcPts val="1200"/>
              </a:spcBef>
              <a:defRPr sz="1400" b="0">
                <a:solidFill>
                  <a:srgbClr val="1A365D"/>
                </a:solidFill>
                <a:latin typeface="Microsoft YaHei"/>
              </a:defRPr>
            </a:pPr>
            <a:r>
              <a:t>• 鸿蒙生态快速扩展，多终端适配成为刚需</a:t>
            </a:r>
          </a:p>
          <a:p>
            <a:pPr algn="l">
              <a:spcBef>
                <a:spcPts val="1200"/>
              </a:spcBef>
              <a:defRPr sz="1400" b="0">
                <a:solidFill>
                  <a:srgbClr val="1A365D"/>
                </a:solidFill>
                <a:latin typeface="Microsoft YaHei"/>
              </a:defRPr>
            </a:pPr>
            <a:r>
              <a:t>• 中小商家数字化转型需求旺盛但技术门槛高</a:t>
            </a:r>
          </a:p>
          <a:p>
            <a:pPr algn="l">
              <a:spcBef>
                <a:spcPts val="1200"/>
              </a:spcBef>
              <a:defRPr sz="1400" b="0">
                <a:solidFill>
                  <a:srgbClr val="1A365D"/>
                </a:solidFill>
                <a:latin typeface="Microsoft YaHei"/>
              </a:defRPr>
            </a:pPr>
            <a:r>
              <a:t>• 轻量化、可定制的电商解决方案市场空间巨大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926080"/>
            <a:ext cx="50292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999232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中国电商市场规模增长趋势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2020年: 11.76万亿元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2021年: 13.09万亿元 (+11.3%)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2022年: 13.79万亿元 (+5.3%)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2023年: 15.43万亿元 (+11.9%)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2024年: 16.50万亿元 (+6.9%)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2025年: 17.80万亿元 (+7.9% est.)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数据来源: 国家统计局、商务部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6126480"/>
            <a:ext cx="1161288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t>核心洞察: 电商市场持续增长  |  技术门槛是最大障碍  |  AI+鸿蒙带来新机遇  |  中小商家需要低成本方案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一、项目背景 — 选题意义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566928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669280" cy="4114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技术整合实践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365D"/>
                </a:solidFill>
                <a:latin typeface="Microsoft YaHei"/>
              </a:defRPr>
            </a:pPr>
            <a:r>
              <a:t>SpringBoot+Vue3+鸿蒙全栈集成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RESTful API + JWT + MyBatis-Plus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Vant移动端 + ElementPlus管理端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三维设备检测策略(UA+触摸+宽度)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66928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669280" cy="4114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AI创新落地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365D"/>
                </a:solidFill>
                <a:latin typeface="Microsoft YaHei"/>
              </a:defRPr>
            </a:pPr>
            <a:r>
              <a:t>DeepSeek大模型电商客服场景应用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关联词映射引擎(11品类60+关键词)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Retrieval-Augmented Generation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API失败自动降级(&lt;1s预设回复)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114800"/>
            <a:ext cx="566928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114800"/>
            <a:ext cx="5669280" cy="4114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多端适配工程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634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365D"/>
                </a:solidFill>
                <a:latin typeface="Microsoft YaHei"/>
              </a:defRPr>
            </a:pPr>
            <a:r>
              <a:t>移动Web(Vant4 iOS/Android适配)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PC管理(ElementPlus 响应式适配)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鸿蒙原生(ArkTS WebView加载)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京东风格PC端商品详情双栏布局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114800"/>
            <a:ext cx="566928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114800"/>
            <a:ext cx="5669280" cy="4114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60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商业实用价值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365D"/>
                </a:solidFill>
                <a:latin typeface="Microsoft YaHei"/>
              </a:defRPr>
            </a:pPr>
            <a:r>
              <a:t>为中小商家提供低门槛解决方案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完整12张表电商数据模型参考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40商品/12订单真实初始数据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阿里云ECS生产环境部署验证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二、技术架构 — 系统全景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36576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6576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前端展示层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Vue3+Vite8构建工具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365D"/>
                </a:solidFill>
                <a:latin typeface="Microsoft YaHei"/>
              </a:defRPr>
            </a:pPr>
            <a:r>
              <a:t>Vant4(移动端) + ElementPlus(管理端) + ArkTS(鸿蒙)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Pinia状态管理 + VueRouter路由守卫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Axios HTTP + 请求/响应拦截器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27个Vue页面 + 7个API模块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CSS Grid响应式 + SVG占位图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463040"/>
            <a:ext cx="36576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463040"/>
            <a:ext cx="36576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后端服务层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SpringBoot3.2.5 Maven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031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365D"/>
                </a:solidFill>
                <a:latin typeface="Microsoft YaHei"/>
              </a:defRPr>
            </a:pPr>
            <a:r>
              <a:t>19个Controller + 11个Service + 12个Mapper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SpringSecurity6 + JWT(JJWT0.12)无状态认证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MyBatis-Plus3.5 LambdaWrapper防SQL注入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DeepSeek RestTemplate AI服务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ApachePOI Excel导出 + Druid监控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6576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36576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基础设施层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MySQL8.0 + CentOS7.9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1031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365D"/>
                </a:solidFill>
                <a:latin typeface="Microsoft YaHei"/>
              </a:defRPr>
            </a:pPr>
            <a:r>
              <a:t>12张数据表(全部逻辑删除)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Druid1.2连接池 + SQL监控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阿里云ECS 2核4G部署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前后端一体化FatJAR(64MB)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nohup java -jar 后台运行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6400800"/>
            <a:ext cx="1161288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Microsoft YaHei"/>
              </a:defRPr>
            </a:pPr>
            <a:r>
              <a:t>架构特点: 前后端分离 → RESTful API通信 → JSON数据交互 → JWT无状态认证 → 一体化部署(Fat JAR)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二、技术架构 — 前端技术栈详解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65760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6576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0817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移动端用户商城 (Vant4 UI)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338328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组件库: Vant 4.9.24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布局: Vant NavBar/Tabbar/Sidebar/Tabs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交互: Swipe轮播/Stepper数量/Popup弹窗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状态: Pinia cartStore/userStore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存储: localStorage持久化(购物车/Token)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适配: 320px-768px触摸优化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特点: 类原生App体验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371600"/>
            <a:ext cx="365760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371600"/>
            <a:ext cx="365760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40817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PC管理后台 (ElementPlus)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874519"/>
            <a:ext cx="338328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组件库: Element Plus 2.13.7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布局: el-container/aside/header/main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表格: el-table + el-pagination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表单: el-form + el-dialog CRUD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图标: @element-plus/icons-vue全集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移动端: 全局CSS媒体查询响应式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特点: 深色侧边栏+白色顶栏经典布局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93192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93192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4081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鸿蒙原生端 (ArkTS)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874519"/>
            <a:ext cx="36576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语言: ArkTS 1.2.1 + ArkUI框架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组件: @kit.ArkWeb Web组件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功能: 加载云端Web端页面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配置: domStorageAccess + javaScriptAccess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适配: HarmonyOS 4.0+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部署: DevEco Studio构建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特点: 原生外壳+云端内容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06240"/>
            <a:ext cx="56692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279392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三维设备检测策略 (responsive.js)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const ua = navigator.userAgent || ""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const isMobileUA = /Android|iPhone|iPad|iPod|Mobile/i.test(ua)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const hasTouch = "ontouchstart" in window || navigator.maxTouchPoints &gt; 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function detectMobile()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if (isMobileUA) return true  // UA明确移动设备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if (hasTouch &amp;&amp; innerWidth &lt; 1024) return true  // 触摸+窄屏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if (!hasTouch &amp;&amp; innerWidth &lt; 600) return true // 桌面小窗口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return false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56692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79392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首页并行加载 (Home.vue)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const loadData = async () =&gt;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const [categories, hot, new_p, banners] =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await Promise.all([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  categoryApi.getCategoryList(),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  productApi.getHotProducts(),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  productApi.getNewProducts(),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  bannerApi.list("home").catch(() =&gt; [])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])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// 四接口并行请求，提升首屏加载速度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二、技术架构 — 后端技术栈详解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36576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6576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认证授权模块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Spring Security 6.1 + JWT 0.12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365D"/>
                </a:solidFill>
                <a:latin typeface="Microsoft YaHei"/>
              </a:defRPr>
            </a:pPr>
            <a:r>
              <a:t>JwtAuthenticationFilter: 拦截Authorization头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解析Token→提取userId/username/role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构建UsernamePasswordAuthenticationToken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@PreAuthorize("hasRole(ADMIN)")权限控制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/error路径permitAll,其余anyRequest.permitAll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463040"/>
            <a:ext cx="36576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463040"/>
            <a:ext cx="36576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持久层模块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MyBatis-Plus 3.5.5 + Druid 1.2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031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365D"/>
                </a:solidFill>
                <a:latin typeface="Microsoft YaHei"/>
              </a:defRPr>
            </a:pPr>
            <a:r>
              <a:t>LambdaQueryWrapper: 类型安全查询构建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BaseMapper: 零XML CRUD操作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@TableLogic: 全表逻辑删除(deleted=0/1)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@Select注解: 自定义统计SQL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Druid监控: /druid/index.html面板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65760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36576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业务与AI模块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11个Service + DeepSeek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1031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365D"/>
                </a:solidFill>
                <a:latin typeface="Microsoft YaHei"/>
              </a:defRPr>
            </a:pPr>
            <a:r>
              <a:t>UserService: BCrypt密码加密/资料更新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ProductService: 商品CRUD/热门/新品查询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OrderInfoService: 订单状态流转/发货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DeepSeekService: AI对话/商品推荐</a:t>
            </a:r>
          </a:p>
          <a:p>
            <a:pPr algn="l">
              <a:spcBef>
                <a:spcPts val="5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FileUploadController: UUID存储/日期分目录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二、技术架构 — 项目关键数据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365760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Microsoft YaHei"/>
              </a:defRPr>
            </a:pPr>
            <a:r>
              <a:t>后端API端点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63040"/>
            <a:ext cx="3657600" cy="2286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69164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291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业务逻辑实现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463040"/>
            <a:ext cx="3657600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Mapper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291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数据访问接口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60"/>
            <a:ext cx="3657600" cy="228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25196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Data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97316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4023360"/>
            <a:ext cx="3657600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425196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Vue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852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Microsoft YaHei"/>
              </a:defRPr>
            </a:pPr>
            <a:r>
              <a:t>前端页面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4023360"/>
            <a:ext cx="365760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25196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API Module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852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Microsoft YaHei"/>
              </a:defRPr>
            </a:pPr>
            <a:r>
              <a:t>前端接口封装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6583679"/>
            <a:ext cx="3657600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812279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37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Test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8412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通过率100%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6583679"/>
            <a:ext cx="3657600" cy="2286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9" y="6812279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25+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Commit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8412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65D"/>
                </a:solidFill>
                <a:latin typeface="Microsoft YaHei"/>
              </a:defRPr>
            </a:pPr>
            <a:r>
              <a:t>Git提交记录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6583679"/>
            <a:ext cx="3657600" cy="228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6812279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Terminal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8412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97316"/>
                </a:solidFill>
                <a:latin typeface="Microsoft YaHei"/>
              </a:defRPr>
            </a:pPr>
            <a:r>
              <a:t>Web+PC+鸿蒙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三、需求分析 — 用户端功能模块 (10个模块)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🛍 商品浏览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首页Banner+分类导航+搜索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热门推荐+新品推荐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566928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371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商品详情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874519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PC京东双栏/移动Vant轮播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规格选择+价格联动+占位图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66928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🛒 购物车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Pinia状态+localStorage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全选/数量/删除/总金额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566928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371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📋 订单管理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874519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5状态Tab切换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取消/支付/确认收货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40480"/>
            <a:ext cx="566928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84048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8770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📍 收货地址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34340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CRUD+GPS/IP定位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设默认+Vant AddressList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840480"/>
            <a:ext cx="566928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84048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38770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👤 个人中心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34340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卡片布局+订单统计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摄像头拍照换头像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840480"/>
            <a:ext cx="566928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84048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8770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⭐ 收藏管理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34340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收藏/取消+列表展示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点击跳转商品详情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3840480"/>
            <a:ext cx="566928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384048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38770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🤖 AI客服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34340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DeepSeek对话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商品推荐卡片(11品类)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309360"/>
            <a:ext cx="566928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630936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634593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🔐 注册登录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681228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JWT+BCrypt+Pinia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表单校验+路由守卫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6309360"/>
            <a:ext cx="5669280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630936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37560" y="634593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💳 下单支付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681228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选地址→确认→提交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模拟支付弹窗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三、需求分析 — 管理端功能模块 (10个模块)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📊 仪表盘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四维统计卡片(用户/商品/订单/销售额)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最近10条订单表格 + 热销Top10列表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ElementPlus Icon彩色图标区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👥 用户管理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keyword/role/status筛选搜索 + 分页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Dialog弹窗CRUD(含头像上传)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BCrypt加密存储 + Excel导出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657600"/>
            <a:ext cx="5669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694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📂 分类管理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1605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el-table展开式一级/二级分类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名称/排序/状态CRUD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级联删除确认提示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657600"/>
            <a:ext cx="5669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694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📦 商品管理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1605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三级导航(分类→子分类→商品列表)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多图上传管理 + keyword/status筛选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上下架/热销/新品标签 + Excel导出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943600"/>
            <a:ext cx="5669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943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5980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📋 订单管理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64465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orderNo/status筛选 + 分页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Dialog详情弹窗(含order_items明细表)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待发货→一键发货(status=1→2,记录时间)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943600"/>
            <a:ext cx="5669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5943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5980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🎨 Banner管理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64465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CRUD + 图片上传(UUID+日期分目录)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标题/链接类型/位置/排序/排期设置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WebMvcConfigurer映射uploads URL路径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8229600"/>
            <a:ext cx="5669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8229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8266175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⭐ 评价管理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87325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productId/status筛选 + 分页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Dialog回复(保存reply+reply_time)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显示/隐藏切换 + 删除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8229600"/>
            <a:ext cx="5669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8229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8266175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💬 客服消息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87325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用户未读消息列表 + 查看对话记录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管理员手动回复(sender_type=1)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未读计数Badge提示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10515600"/>
            <a:ext cx="5669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10515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10552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⚙ 系统设置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110185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原密码验证 + 新密码BCrypt更新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系统关于信息(技术栈版本)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移动端全局CSS响应式适配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10515600"/>
            <a:ext cx="5669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10515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10552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📱 移动适配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110185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屏幕≤768px: 表格12px/按钮缩小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弹窗92%宽/抽屉220px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分页居中/表单项间距缩小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四、数据库设计 — 12张核心数据表总览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27432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7432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user (15字段)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Microsoft YaHei"/>
              </a:defRPr>
            </a:pPr>
            <a:r>
              <a:t>用户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用户名/BCrypt密码/头像/角色/状态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463040"/>
            <a:ext cx="27432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463040"/>
            <a:ext cx="27432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product (19字段)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Microsoft YaHei"/>
              </a:defRPr>
            </a:pPr>
            <a:r>
              <a:t>商品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名称/价格/库存/销量/热销/新品/详情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27432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7432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category (9字段)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Microsoft YaHei"/>
              </a:defRPr>
            </a:pPr>
            <a:r>
              <a:t>分类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二级结构/base64图标/排序/状态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463040"/>
            <a:ext cx="27432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463040"/>
            <a:ext cx="2743200" cy="4114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order_info (16字段)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Microsoft YaHei"/>
              </a:defRPr>
            </a:pPr>
            <a:r>
              <a:t>订单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雪花ID/金额/5状态流转/支付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23360"/>
            <a:ext cx="27432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023360"/>
            <a:ext cx="2743200" cy="4114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690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order_item (11字段)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Microsoft YaHei"/>
              </a:defRPr>
            </a:pPr>
            <a:r>
              <a:t>订单明细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商品快照/单价/数量/小计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023360"/>
            <a:ext cx="27432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4023360"/>
            <a:ext cx="274320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40690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product_spec (8字段)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5720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Microsoft YaHei"/>
              </a:defRPr>
            </a:pPr>
            <a:r>
              <a:t>商品规格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SKU(颜色/尺码)/独立价格/库存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023360"/>
            <a:ext cx="27432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4023360"/>
            <a:ext cx="274320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0690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address (10字段)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5720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Microsoft YaHei"/>
              </a:defRPr>
            </a:pPr>
            <a:r>
              <a:t>收货地址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省市区/GPS定位/默认标记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4023360"/>
            <a:ext cx="27432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60" y="4023360"/>
            <a:ext cx="274320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40690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banner (11字段)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5720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Microsoft YaHei"/>
              </a:defRPr>
            </a:pPr>
            <a:r>
              <a:t>轮播图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图片/链接/排序/排期/状态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583679"/>
            <a:ext cx="27432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6583679"/>
            <a:ext cx="274320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629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review (13字段)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7132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Microsoft YaHei"/>
              </a:defRPr>
            </a:pPr>
            <a:r>
              <a:t>评价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评分/内容/图片/回复/匿名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6583679"/>
            <a:ext cx="27432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6583679"/>
            <a:ext cx="274320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6629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favorite (4字段)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7132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Microsoft YaHei"/>
              </a:defRPr>
            </a:pPr>
            <a:r>
              <a:t>收藏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用户-商品关联/时间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6583679"/>
            <a:ext cx="27432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26480" y="6583679"/>
            <a:ext cx="274320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6629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cart (7字段)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7132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Microsoft YaHei"/>
              </a:defRPr>
            </a:pPr>
            <a:r>
              <a:t>购物车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用户-商品-规格/数量/选中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2560" y="6583679"/>
            <a:ext cx="27432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52560" y="6583679"/>
            <a:ext cx="2743200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6629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customer_service (8字段)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7132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65D"/>
                </a:solidFill>
                <a:latin typeface="Microsoft YaHei"/>
              </a:defRPr>
            </a:pPr>
            <a:r>
              <a:t>客服</a:t>
            </a:r>
          </a:p>
          <a:p>
            <a:pPr algn="l">
              <a:spcBef>
                <a:spcPts val="6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发送者类型/已读标记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四、数据库设计 — 设计特点与数据统计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数据库设计特点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逻辑删除: 全部12张表deleted字段, MyBatis-Plus @TableLogic自动过滤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订单快照: order_item存储下单时商品名/图片/价格, 防历史数据变更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雪花ID: Hutool IdUtil.getSnowflakeNextIdStr()生成唯一订单号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BCrypt: Spring Security BCryptPasswordEncoder加密用户密码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参数化查询: LambdaQueryWrapper类型安全, 防SQL注入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字段扩展: 所有表预留扩展字段, 支持灵活业务变更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初始数据统计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商品: 40件 (手机/电脑/家电/服装/美妆/食品/运动等品类)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订单: 12条 (覆盖5种状态流转)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订单明细: 18条 (含商品快照)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评价: 24条 (含评分/图片/管理员回复)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商品规格: 57条 (颜色/尺码SKU)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收货地址: 15条 (含默认标记)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Banner: 5条 (全部配置Unsplash网络图片)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用户: 8名 (含管理员角色)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分类: 7个一级分类 + 30个二级分类(含base64图标)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566928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96849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ER关系说明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434840"/>
            <a:ext cx="5394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user 1:N address (收货地址)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5303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600"/>
              </a:spcBef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user 1:N order_info (用户订单)</a:t>
            </a:r>
            <a:br/>
            <a:r>
              <a:t>user 1:N favorite (收藏)</a:t>
            </a:r>
            <a:br/>
            <a:r>
              <a:t>user 1:N review (评价)</a:t>
            </a:r>
            <a:br/>
            <a:r>
              <a:t>user 1:N cart (购物车)</a:t>
            </a:r>
            <a:br/>
            <a:r>
              <a:t>user 1:N customer_service (客服)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566928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56692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96849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ER关系说明(续)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434840"/>
            <a:ext cx="5394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category 1:N product (商品)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34840"/>
            <a:ext cx="5303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600"/>
              </a:spcBef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product 1:N order_item</a:t>
            </a:r>
            <a:br/>
            <a:r>
              <a:t>product 1:N product_spec</a:t>
            </a:r>
            <a:br/>
            <a:r>
              <a:t>product 1:N review</a:t>
            </a:r>
            <a:br/>
            <a:r>
              <a:t>product 1:N favorite</a:t>
            </a:r>
            <a:br/>
            <a:r>
              <a:t>order_info 1:N order_item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五、用户端功能 — 首页与商品浏览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BFDBFE"/>
                </a:solidFill>
                <a:latin typeface="Microsoft YaHei"/>
              </a:defRPr>
            </a:pPr>
            <a:r>
              <a:t>页面路由: /client/home | /client/category | /client/product/:id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首页功能 (Home.vue)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Banner轮播: VantSwipe autoplay=3000ms, 5条DB数据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分类导航: 7个base64图标+响应式4-5列网格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热门商品: /api/products/hot 按销量Top10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新品推荐: /api/products/new 按时间Top10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搜索栏: VantSearch圆形搜索框, keyword模糊匹配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并行加载: Promise.all四接口同时请求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分类与搜索 (Category.vue)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一级分类: VantSidebar侧边栏, 点击切换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二级分类: VantTabs标签, 动态加载子分类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商品网格: CSSGrid 3-5列响应式(aspect-ratio:1)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搜索模式: 隐藏侧边栏, 调用/api/products/search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占位图: SVG渐变+商品首字(12色轮换)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005072"/>
            <a:ext cx="539496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首页数据加载逻辑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const [cats, hot, new_p, banners] = await Promise.all([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categoryApi.getCategoryList(),     // 分类列表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productApi.getHotProducts(),       // 热门Top10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productApi.getNewProducts(),       // 新品Top10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bannerApi.list("home")              // Banner轮播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])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四个接口并行请求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任一失败不影响其他(individual catch)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005072"/>
            <a:ext cx="539496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  <a:latin typeface="Microsoft YaHei"/>
              </a:defRPr>
            </a:pPr>
            <a:r>
              <a:t>搜索关键词处理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用户输入: "性价比高的手机"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→ 后端提取关键词: ["性价比","手机"]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→ LambdaQueryWrapper: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  eq(status=1) 上架商品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  gt(stock&gt;0)   有库存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  and(or().like(name,keyword)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         .like(subtitle,keyword)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         .like(description,keyword))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→ 按销量降序, 分页返回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五、用户端功能 — 商品详情(双端自适应)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486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4864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0817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移动端布局 (Vant4)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顶部: VantSwipe 图片轮播(autoplay=3000)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价格区: 红色¥价格+原价划线+销量/库存/评分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服务承诺: 正品保障/7天退换/极速发货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规格选择: VantCell点击→Popup弹窗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└ 标签选择(颜色/尺码) 价格联动切换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商品详情: HTML富文本v-html渲染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评价列表: VantRate星级+内容+客服回复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底部: VantActionBar(客服/收藏/购物车/加购/购买)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9436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1371600"/>
            <a:ext cx="594360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40817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PC端布局 (京东风格)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874519"/>
            <a:ext cx="5669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左侧(450px): 主图(450x450)+缩略图条(60x60)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点击缩略图切换主图(border高亮)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右侧: 商品标题(20px加粗)+副标题(红)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粉色价格区块: ¥价格(28px红色加粗)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+ ¥原价(14px划线)+红色折扣%标签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销量/库存/评分 元数据行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规格标签选择器 点选切换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数量Stepper(min=1 max=库存)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大按钮: 加入购物车/立即购买(160x48)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+ 收藏/客服按钮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服务承诺条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389120"/>
            <a:ext cx="56692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462272"/>
            <a:ext cx="539496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规格选择与价格联动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const selectedSpec = ref(null)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const currentPrice = computed(() =&gt;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selectedSpec.value?.price || product.price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移动端: Popup弹窗 + 标签选择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PC端: 直接点击标签切换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库存联动: max=selectedSpec.stock||product.stock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389120"/>
            <a:ext cx="56692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462272"/>
            <a:ext cx="539496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  <a:latin typeface="Microsoft YaHei"/>
              </a:defRPr>
            </a:pPr>
            <a:r>
              <a:t>PC端缩略图切换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const images = computed(() =&gt;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const imgs = []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if (product.mainImage) imgs.push(...)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if (product.detailImages)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// 兼容JSON数组和逗号分隔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const arr = JSON.parse(detailImages)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arr.forEach(img =&gt; imgs.push(img))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}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return imgs.length ? imgs : [placeholder]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})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五、用户端功能 — 购物车/订单/地址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8404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8404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081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购物车 (Cart.vue)</a:t>
            </a:r>
            <a:br/>
            <a:r>
              <a:t>Pinia cartStore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状态: Pinia cartStore集中管理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存储: localStorage持久化(刷新不丢)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全选: VantCheckbox全选/取消全选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数量: VantStepper min=1修改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删除: 点击删除+确认提示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结算: VantSubmitBar实时总金额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跳转: 提交订单→/client/checkout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8404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8404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081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订单管理 (OrderList.vue)</a:t>
            </a:r>
            <a:br/>
            <a:r>
              <a:t>5状态流转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74519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Tab: 全部/待付款/待发货/待收货/已完成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切换: onTabChange()→resetAndLoad()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清空列表+重置页码+重新请求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卡片: 订单号+金额+时间+状态标签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操作: 查看详情/取消/去支付/确认收货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详情: /client/order/:id商品明细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371600"/>
            <a:ext cx="36576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36576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40817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收货地址 (AddressList.vue)</a:t>
            </a:r>
            <a:br/>
            <a:r>
              <a:t>GPS双重定位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87451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列表: VantAddressList+默认标记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GPS定位: navigator.geolocation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→Nominatim逆地理编码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→PERMISSION_DENIED自动回退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→ipapi.co→api.ip.sb双重IP定位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表单: 省/市/区/详细地址+手机号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操作: CRUD+设置默认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3192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005072"/>
            <a:ext cx="539496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下单流程代码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async handleSubmit()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if (!selectedAddress) { toast("请选地址"); return }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const items = checkoutItems.map(item =&gt; ({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productId: item.id, quantity: item.quantity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}))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const res = await orderApi.createOrder({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addressId: selectedAddress.id,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items, remark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})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// 返回: { orderId, orderNo, totalAmount }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// 跳转模拟支付弹窗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005072"/>
            <a:ext cx="539496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  <a:latin typeface="Microsoft YaHei"/>
              </a:defRPr>
            </a:pPr>
            <a:r>
              <a:t>GPS定位回退策略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async function getLocation()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// 1. 尝试GPS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navigator.geolocation.getCurrentPosition(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onSuccess,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onError,  // PERMISSION_DENIED→回退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{ timeout: 8000 }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// 2. GPS失败→IP定位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const res = await fetch("ipapi.co/json/")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// 3. ipapi失败→备用API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//    api.ip.sb/geoip/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五、用户端功能 — 个人中心/账号设置/AI客服入口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个人中心 (Profile.vue)</a:t>
            </a:r>
            <a:br/>
            <a:r>
              <a:t>卡片式布局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用户卡片: 渐变背景+头像+昵称+手机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订单统计: 5状态数量(API实时):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/api/user/orders/counts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{all,pendingPay,pendingShip,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 pendingReceive,completed}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服务入口: VantGrid宫格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我的订单/收货地址/收藏/客服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操作: 退出登录(确认弹窗)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账号设置 (UserSettings.vue)</a:t>
            </a:r>
            <a:br/>
            <a:r>
              <a:t>相册+拍照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头像上传: 两个入口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1. 相册: &lt;input accept="image/*"&gt;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2. 拍照: &lt;input capture="camera"&gt;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大小限制: 10MB (FileReader→base64)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资料编辑: 昵称/手机/邮箱/性别/生日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性别: ActionSheet选择(男/女)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生日: DatePicker日期选择器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保存: /api/user/profile 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566928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56692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96849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AI客服入口 (CustomerService.vue)</a:t>
            </a:r>
            <a:br/>
            <a:r>
              <a:t>每次进入清空历史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434840"/>
            <a:ext cx="5394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欢迎语: "您好，工号26793小琉为您服务"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快捷问题: 推荐手机/护肤品/新品/包邮/退货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发送消息: 冒泡动画(三点闪烁)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→后端搜索→DeepSeek API→推荐卡片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AI回复: Markdown符号过滤(正则)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推荐卡片: 图片+名称+价格+箭头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点击跳转/client/product/:id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未登录: 仍可对话(不保存消息)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005072"/>
            <a:ext cx="539496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客服页核心代码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const sendMessage = async () =&gt;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const userMsg = { senderType: 0, content: text }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messages.value.push(userMsg)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thinking.value = true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const res = await csApi.sendMessage(text)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// 清理Markdown符号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let reply = res.reply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.replace(/[*#_`~&gt;-]/g, "")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.replace(/\[RECOMMEND\].*?\[\/RECOMMEND\]/g,"")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messages.value.push({senderType:1,content:reply,products:res.products})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六、管理端功能 — 仪表盘与用户管理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仪表盘 (Dashboard.vue)</a:t>
            </a:r>
            <a:br/>
            <a:r>
              <a:t>/api/admin/dashboard/stats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统计卡片: 4个ElementPlusCard+彩色图标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用户总数/商品总数/订单总数/销售总额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最近订单: el-table展示最近10条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(订单号/金额/状态标签)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热销商品: el-table销量Top10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(商品名/销量/价格)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数据: DashboardStatsVO统一封装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{userCount,productCount,orderCount,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 todayOrderCount,totalSales,todaySales,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 recentOrders,hotProducts}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用户管理 (User.vue)</a:t>
            </a:r>
            <a:br/>
            <a:r>
              <a:t>/api/admin/users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搜索: keyword(用户名/昵称/手机号)+role+status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列表: ID/用户名/昵称/手机/邮箱/角色标签/状态标签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CRUD: el-dialog表单(所有字段)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用户名/密码/昵称/手机/邮箱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头像上传(FileReader→base64)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性别/生日/角色/状态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导出: /api/admin/users/export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ApachePOI SXSSFWorkbook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自动下载xlsx文件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389120"/>
            <a:ext cx="56692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462272"/>
            <a:ext cx="539496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仪表盘数据查询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DashboardServiceImpl.stats()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Long userCount = userMapper.selectCount(wrapper)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Long productCount = productMapper.selectCount(wrapper)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Long orderCount = orderMapper.selectCount(wrapper)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今日订单: count where createTime &gt;= today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Long todayOrders = orderMapper.countTodayOrders(start,end)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销售额: select ifnull(sum(pay_amount),0)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BigDecimal totalSales = orderMapper.sumPayAmount()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389120"/>
            <a:ext cx="56692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462272"/>
            <a:ext cx="539496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  <a:latin typeface="Microsoft YaHei"/>
              </a:defRPr>
            </a:pPr>
            <a:r>
              <a:t>用户导出Excel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UserAdminController.export()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@GetMapping("/export")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public void export(HttpServletResponse response)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List&lt;User&gt; users = userService.listAll(...)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String[] headers = {"ID","用户名","昵称",...}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List&lt;List&lt;Object&gt;&gt; data = users.stream()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.map(u -&gt; Arrays.asList(u.getId(),...))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.collect(toList())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ExcelExportUtil.exportExcel(response,headers,data)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六、管理端功能 — 分类管理与商品管理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分类管理 (Category.vue)</a:t>
            </a:r>
            <a:br/>
            <a:r>
              <a:t>/api/admin/categories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5394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一级分类: el-table + type="expand"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展开显示二级子分类表格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ID/名称/排序/状态标签/操作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二级分类: expand-content区域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独立子表格(名称/排序/状态)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Dialog: 新增/编辑(名称/排序/状态)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名称必填(trigger:blur校验)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删除: ElMessageBox.confirm确认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级联删除提示(子分类+商品)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商品管理 (Product.vue)</a:t>
            </a:r>
            <a:br/>
            <a:r>
              <a:t>/api/admin/products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394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三级导航: 一级分类→子分类→商品列表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(el-breadcrumb面包屑导航)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列表: keyword/status筛选+分页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主图缩略图/名称/价格/库存/销量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Dialog: 18个字段完整表单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名称/副标题/主图/详情图片(多张)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售价/原价/库存/销量/排序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描述/详情HTML/状态/热销/新品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导出: /api/admin/products/export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206240"/>
            <a:ext cx="56692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279392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商品数据查询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ProductAdminController.page()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LambdaQueryWrapper&lt;Product&gt; wrapper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= new LambdaQueryWrapper&lt;&gt;()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wrapper.eq(categoryId!=null, Product::getCategoryId, id)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.like(StrUtil.isNotBlank(keyword),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     Product::getName, keyword)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.eq(status!=null, Product::getStatus, status)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.orderByDesc(Product::getSortOrder)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Page&lt;Product&gt; page = mapper.selectPage(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new Page&lt;&gt;(pageNum,pageSize), wrapper)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06240"/>
            <a:ext cx="56692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79392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  <a:latin typeface="Microsoft YaHei"/>
              </a:defRPr>
            </a:pPr>
            <a:r>
              <a:t>分类展开子分类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const getChildren = (parentId) =&gt;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if (!parentId) return []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if (!childrenCache.value[parentId])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// 首次展开→加载数据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request.get(`/api/admin/categories/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  second/${parentId}`).then(res =&gt;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  // 对象替换触发Vue响应式更新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  childrenCache.value =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    ...childrenCache.value,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    [parentId]: res || []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  }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})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六、管理端功能 — 订单管理与Banner管理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订单管理 (Order.vue)</a:t>
            </a:r>
            <a:br/>
            <a:r>
              <a:t>/api/admin/orders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5394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搜索: orderNo/status筛选+分页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列表: ID/订单号/金额/支付方式/状态标签/时间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操作: 查看(详情弹窗)/发货/导出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Dialog: el-descriptions订单信息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(订单号/金额/实付/支付方式/时间)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商品明细table: 商品名/规格/单价/数量/小计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发货: /api/admin/orders/{id}/ship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status=1→2(待收货), record delivery_time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导出: /api/admin/orders/export→xlsx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Banner管理 (Banner.vue)</a:t>
            </a:r>
            <a:br/>
            <a:r>
              <a:t>/api/admin/banners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394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列表: 图片缩略图/标题/位置/排序/状态/时间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Dialog: 标题(input)/图片(upload预览)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链接类型(商品/分类/URL select)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链接目标(input)/位置(home)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排序(number)/开始时间/结束时间(datepicker)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状态(启用/禁用 select)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上传: uploadApi.uploadImage(file)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→FormData→/api/upload/image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→UUID命名→日期分目录→返回URL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206240"/>
            <a:ext cx="56692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279392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订单状态流转逻辑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@PutMapping("/{id}/ship")  // 发货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public ApiResponse&lt;Void&gt; ship(@PathVariable Long id)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OrderInfo order = orderInfoService.getById(id)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if (order != null &amp;&amp; order.getStatus() == 1)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order.setStatus(2)  // 待收货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order.setDeliveryTime(LocalDateTime.now())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orderInfoService.update(order)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}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return ApiResponse.success()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06240"/>
            <a:ext cx="56692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79392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  <a:latin typeface="Microsoft YaHei"/>
              </a:defRPr>
            </a:pPr>
            <a:r>
              <a:t>图片上传处理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@PostMapping("/image")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public ApiResponse uploadImage(@RequestParam file){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if (!contentType.startsWith("image/"))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return error("只支持图片文件")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String dateDir = now().format("yyyy/MM/dd")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File datePath = new File(uploadDir, dateDir)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if (!datePath.exists()) datePath.mkdirs()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String name = UUID.randomUUID()+ext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file.transferTo(new File(datePath, name))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return success("/uploads/"+dateDir+"/"+name)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六、管理端功能 — 评价管理与系统设置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评价管理 (Review.vue)</a:t>
            </a:r>
            <a:br/>
            <a:r>
              <a:t>/api/admin/reviews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搜索: productId+status筛选+分页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列表: ID/商品ID/用户ID/VantRate星级/内容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回复内容/状态标签/时间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Dialog: 回复(展示原评价+textarea输入)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保存: reply+reply_time字段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状态: 显示/隐藏切换(updateStatus)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删除: 确认弹窗+删除+刷新列表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系统设置 (Settings.vue)</a:t>
            </a:r>
            <a:br/>
            <a:r>
              <a:t>/api/user/profile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修改密码: el-tabs切换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原密码/新密码/确认密码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校验: 新密码≥6位,两次一致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→/api/user/profile PUT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→BCrypt加密更新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→清除Token重新登录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关于: 系统版本号+技术栈信息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客服消息: 用户对话查看+回复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移动适配: 全站CSS媒体查询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≤768px响应式规则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389120"/>
            <a:ext cx="56692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462272"/>
            <a:ext cx="539496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评价回复处理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@PutMapping("/{id}/reply")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public ApiResponse reply(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@PathVariable Long id,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@RequestBody Map&lt;String,String&gt; body)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reviewService.reply(id, body.get("reply"))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ReviewServiceImpl.reply()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Review review = new Review()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review.setId(id)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review.setReply(reply)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review.setReplyTime(LocalDateTime.now())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reviewMapper.updateById(review)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389120"/>
            <a:ext cx="56692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462272"/>
            <a:ext cx="539496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  <a:latin typeface="Microsoft YaHei"/>
              </a:defRPr>
            </a:pPr>
            <a:r>
              <a:t>移动端CSS响应式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/* App.vue 全局媒体查询 */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@media (max-width: 768px)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.el-table { font-size: 12px !important }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.el-table .cell { padding: 6px 4px }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.el-button--small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padding: 4px 8px; font-size: 11px }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.el-form--inline .el-form-item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margin-right: 8px; margin-bottom: 4px }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.el-pagination { justify-content: center }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.el-dialog { width: 92%!important }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.el-drawer { width: 220px!important }}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七、AI智能客服 — 核心创新点详解 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技术方案</a:t>
            </a:r>
            <a:br/>
            <a:r>
              <a:t>DeepSeek+RAG简化实现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模型: deepseek-chat (API via RestTemplate)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SystemPrompt: 动态构建(含商品列表+规则)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禁止Markdown符号,口语化要求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角色: "QJ商城AI助手小Q,工号26793"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关联词映射: HashMap&lt;String,String[]&gt;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11个品类 60+关键词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饮料→气泡水/可乐/橙汁/果汁...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手机→iPhone/华为/小米/OPPO...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3840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工作流程</a:t>
            </a:r>
            <a:br/>
            <a:r>
              <a:t>6步处理链路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Step1: 保存用户消息→提取关键词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Step2: 扩展关联词→搜索DB商品(最多10)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Step3: 取最近10条对话历史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Step4: 构建SystemPrompt+history+userMsg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Step5: 调用DeepSeek API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      headers.setBearerAuth(apiKey)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      model=deepseek-chat,temperature=0.7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Step6: 解析[RECOMMEND]标记→组装卡片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      失败→catch→fallback预设回复(&lt;1s)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005072"/>
            <a:ext cx="539496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关联词映射引擎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static final Map&lt;String,String[]&gt; RELATED =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{"饮料",{"气泡水","可乐","橙汁","果汁"}},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{"手机",{"iPhone","华为","小米","三星"}},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{"电脑",{"MacBook","ThinkPad","笔记本"}},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{"耳机",{"AirPods","Bose","索尼","降噪"}},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{"零食",{"坚果","车厘子","食品"}},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{"衣服",{"羽绒","卫衣","CK","优衣库","Nike"}},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{"护肤",{"SK-II","雅诗兰黛","海蓝之谜"}},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// 共11品类60+关键词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005072"/>
            <a:ext cx="539496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Microsoft YaHei"/>
              </a:defRPr>
            </a:pPr>
            <a:r>
              <a:t>推荐解析与降级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解析AI回复中的推荐标记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if (content.contains("[RECOMMEND]"))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int s = content.indexOf("[RECOMMEND]")+11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int e = content.indexOf("[/RECOMMEND]")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String ids = content.substring(s,e)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// "108,106" → [108L, 106L]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// 最多3个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// 组装productCards: {id,name,price,image,link}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API失败→降级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} catch (Exception e)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return fallbackReply(userMessage)  // 预设回复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七、AI智能客服 — 前端展示与效果示例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前端聊天UI (CustomerService.vue)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5394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欢迎区: 大号机器人emoji + 工号 + 欢迎语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5个快捷问题标签(推荐手机/护肤品等)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消息气泡: 用户(蓝色右对齐) / AI(白色左对齐)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AI思考中: 三点闪烁动画(blink keyframes)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msg.content: Markdown符号正则过滤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msg.products: 商品推荐卡片数组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  └ 图片(56x44圆角)+名称+价格+箭头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  └ @click="goProduct(p.id)"跳转详情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输入栏: VantField+发送按钮(圆形)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效果演示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394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用户: "我想要饮料"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200"/>
              </a:spcBef>
              <a:defRPr sz="1300" b="0">
                <a:solidFill>
                  <a:srgbClr val="10B981"/>
                </a:solidFill>
                <a:latin typeface="Microsoft YaHei"/>
              </a:defRPr>
            </a:pPr>
            <a:r>
              <a:t>AI: "为您推荐以下饮料哦~"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200"/>
              </a:spcBef>
              <a:defRPr sz="1200" b="0">
                <a:solidFill>
                  <a:srgbClr val="2563EB"/>
                </a:solidFill>
                <a:latin typeface="Microsoft YaHei"/>
              </a:defRPr>
            </a:pPr>
            <a:r>
              <a:t>【元气森林气泡水】无糖低卡 480ml*15 </a:t>
            </a:r>
            <a:br/>
            <a:r>
              <a:t>    ¥59.90  [商品卡片可点击]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5176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200"/>
              </a:spcBef>
              <a:defRPr sz="1200" b="0">
                <a:solidFill>
                  <a:srgbClr val="2563EB"/>
                </a:solidFill>
                <a:latin typeface="Microsoft YaHei"/>
              </a:defRPr>
            </a:pPr>
            <a:r>
              <a:t>【智利进口车厘子】JJ级果径饱满 2.5kg </a:t>
            </a:r>
            <a:br/>
            <a:r>
              <a:t>    ¥199.00  [商品卡片可点击]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600"/>
              </a:spcBef>
              <a:defRPr sz="1300" b="0">
                <a:solidFill>
                  <a:srgbClr val="1A365D"/>
                </a:solidFill>
                <a:latin typeface="Microsoft YaHei"/>
              </a:defRPr>
            </a:pPr>
            <a:r>
              <a:t>用户: "推荐一款手机"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9184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200"/>
              </a:spcBef>
              <a:defRPr sz="1300" b="0">
                <a:solidFill>
                  <a:srgbClr val="10B981"/>
                </a:solidFill>
                <a:latin typeface="Microsoft YaHei"/>
              </a:defRPr>
            </a:pPr>
            <a:r>
              <a:t>AI: "为您推荐以下手机~"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7472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200"/>
              </a:spcBef>
              <a:defRPr sz="1200" b="0">
                <a:solidFill>
                  <a:srgbClr val="2563EB"/>
                </a:solidFill>
                <a:latin typeface="Microsoft YaHei"/>
              </a:defRPr>
            </a:pPr>
            <a:r>
              <a:t>【iPhone 15 Pro Max】A17 Pro芯片 ¥9999</a:t>
            </a:r>
            <a:br/>
            <a:r>
              <a:t>【小米14 Pro】徕卡影像 ¥4999</a:t>
            </a:r>
            <a:br/>
            <a:r>
              <a:t>【三星S24 Ultra】AI手机 ¥9699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56692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4279392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前端消息处理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const sendMessage = async () =&gt;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const text = inputText.value.trim()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if (!text || thinking.value) return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thinking.value = true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messages.push({content:text,senderType:0})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const res = await csApi.sendMessage(text)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let reply = res.reply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.replace(/[*#_`~&gt;-]/g, "")  // 去符号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.replace(/\[RECOMMEND\].*?\[\/RECOMMEND\]/g,"")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messages.push({content:reply,senderType:1,products:res.products})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206240"/>
            <a:ext cx="56692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279392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  <a:latin typeface="Microsoft YaHei"/>
              </a:defRPr>
            </a:pPr>
            <a:r>
              <a:t>后端商品搜索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private List&lt;Product&gt; searchProducts(String keyword)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Set&lt;String&gt; words = extractAndExpand(keyword)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LambdaQueryWrapper&lt;Product&gt; w = new LambdaQueryWrapper&lt;&gt;()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w.eq(Product::getStatus, 1)  // 上架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w.gt(Product::getStock, 0)   // 有库存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w.and(wr -&gt; {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for (String word : words)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  wr.or().like(Product::getName, word)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    .or().like(Product::getSubtitle, word)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      .or().like(Product::getDescription, word)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})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w.orderByDesc(Product::getSales)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  w.last("limit 10")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八、作品测试 — 测试概览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47472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3291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37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测试用例总数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371600"/>
            <a:ext cx="347472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59" y="1481328"/>
            <a:ext cx="3291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100%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测试通过率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371600"/>
            <a:ext cx="347472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481328"/>
            <a:ext cx="3291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2类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  <a:r>
              <a:t>用户端+管理端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432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测试环境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服务器: 阿里云ECS 2核4G CentOS 7.9 | 数据库: MySQL 8.0 (qj_shop) | 浏览器: Chrome 120+ / Edge 120+ / Safari 17+</a:t>
            </a:r>
            <a:br/>
            <a:r>
              <a:t>移动设备: iPhone 14 Pro (390×844) / Android Chrome (412×915) | PC: 1920×1080 / 1366×768 | 鸿蒙: DevEco模拟器 HarmonyOS 4.0</a:t>
            </a:r>
            <a:br/>
            <a:r>
              <a:t>初始数据: 40件商品 | 12条订单 | 24条评价 | 8名用户 | 7个一级分类 | 5条Banner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74720"/>
            <a:ext cx="5669280" cy="2926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474720"/>
            <a:ext cx="56692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51129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用户端测试用例(24个)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977639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注册(合法/重复) ✓  登录(正确/错误)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首页加载(Banner/分类/热门) ✓  搜索(关键词模糊)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商品详情(移动/PC双端) ✓  规格选择(价格联动)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购物车(加入/修改/删除/全选)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下单(选地址→确认→提交→支付)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订单(5状态Tab切换/取消/支付)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收货地址(GPS定位/编辑/默认)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AI客服(泛指推荐/口语回复/降级)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个人中心(统计/头像拍照/资料)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474720"/>
            <a:ext cx="5669280" cy="2926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47472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51129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管理端测试用例(13个)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977639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仪表盘(统计/最近订单/热销)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用户管理(CRUD/搜索/Excel导出)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分类管理(展开/CRUD/级联删除)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商品管理(三级/筛选/上下架/导出)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订单管理(筛选/详情弹窗/发货)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Banner管理(CRUD/图片上传)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评价管理(回复/显示隐藏/删除)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移动端管理(表格/弹窗/分页响应) ✓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八、作品测试 — 兼容性与性能测试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浏览器兼容性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5394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Chrome 120+: 完整通过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Edge 120+: 完整通过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Safari 17+: 完整通过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微信内置浏览器(Android): 通过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微信内置浏览器(iOS): 通过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鸿蒙DevEco模拟器: WebView正常加载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响应式测试: 320px~1920px全覆盖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小屏(&lt;500px): 商品3列网格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中屏(500-900px): 4列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大屏(&gt;900px): 5列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38404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081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性能指标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3949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页面首次加载: &lt;3秒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商品列表查询: &lt;1秒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订单提交: &lt;2秒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AI客服(正常): 3-5秒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AI客服(降级): &lt;1秒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并发50用户浏览: 无明显延迟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JAR启动时间: ~7秒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JAR大小: 64MB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前端dist: 38文件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后端class: 80+文件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206240"/>
            <a:ext cx="5669280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206240"/>
            <a:ext cx="56692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424281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设备检测准确性验证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709159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UA检测: /Android|iPhone|iPad|Mobile/i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正确识别100%移动UA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触摸屏检测: ontouchstart + maxTouchPoints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正确识别触摸设备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宽度兜底: &lt;600px强制移动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窄窗口桌面浏览器正确切换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高分辨率手机: 1080px Android旗舰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UA→移动端, 不再误判PC ✓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iPad: 触摸屏+中等宽度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识别为平板, 使用移动布局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206240"/>
            <a:ext cx="56692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279392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  <a:latin typeface="Microsoft YaHei"/>
              </a:defRPr>
            </a:pPr>
            <a:r>
              <a:t>性能监控代码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Druid连接池监控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/druid/index.html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实时查看: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  - 活跃连接数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  - SQL执行时间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  - 慢SQL记录(&gt;2s)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MyBatis-Plus SQL日志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mybatis-plus.configuration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  .log-impl=StdOutImpl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每个API请求打印SQL和参数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2E8F0"/>
                </a:solidFill>
                <a:latin typeface="Microsoft YaHei"/>
              </a:defRPr>
            </a:pPr>
            <a:r>
              <a:t>// 便于性能分析和优化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九、技术问题与解决 (Page 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问题1 - Vant4组件名变更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现象: GoodsAction系列→ActionBar</a:t>
            </a:r>
            <a:br/>
            <a:r>
              <a:t>ProductDetail组件解析失败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解决: 查阅Vant官方CHANGELOG</a:t>
            </a:r>
            <a:br/>
            <a:r>
              <a:t>van-goods-action→van-action-bar</a:t>
            </a:r>
            <a:br/>
            <a:r>
              <a:t>van-goods-action-icon→van-action-bar-icon</a:t>
            </a:r>
            <a:br/>
            <a:r>
              <a:t>van-goods-action-button→van-action-bar-button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问题2 - 高分辨率手机误判PC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现象: 1080px Android手机</a:t>
            </a:r>
            <a:br/>
            <a:r>
              <a:t>仅靠innerWidth显示PC布局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解决: UA检测+触摸屏检测+宽度三维策略</a:t>
            </a:r>
            <a:br/>
            <a:r>
              <a:t>isMobileUA || (hasTouch &amp;&amp; w&lt;1024)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56692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问题3 - Vite代理rewrite路径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现象: 代理去/api→Controller</a:t>
            </a:r>
            <a:br/>
            <a:r>
              <a:t>@RequestMapping("/api/...")不匹配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解决: 移除rewrite规则</a:t>
            </a:r>
            <a:br/>
            <a:r>
              <a:t>去掉axios baseURL</a:t>
            </a:r>
            <a:br/>
            <a:r>
              <a:t>所有API路径统一完整/api/...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56692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问题4 - Banner时间过滤NULL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805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现象: startTime IS NULL</a:t>
            </a:r>
            <a:br/>
            <a:r>
              <a:t>→ startTime&lt;=now=NULL→过滤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解决: SQL增加IS NULL OR判断</a:t>
            </a:r>
            <a:br/>
            <a:r>
              <a:t>isNull(startTime).or().le(startTime,now)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九、技术问题与解决 (Page 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问题5 - Linux MySQL Socket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现象: JDBC:localhost→UnixSocket</a:t>
            </a:r>
            <a:br/>
            <a:r>
              <a:t>socket文件不在默认路径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解决: 改为jdbc:mysql://127.0.0.1:3306/</a:t>
            </a:r>
            <a:br/>
            <a:r>
              <a:t>强制TCP连接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问题6 - SPA路由刷新500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现象: /admin直接访问→404</a:t>
            </a:r>
            <a:br/>
            <a:r>
              <a:t>→500服务器异常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解决: SpaFilter@Order(MIN_VALUE)</a:t>
            </a:r>
            <a:br/>
            <a:r>
              <a:t>非API请求forward:/index.html</a:t>
            </a:r>
            <a:br/>
            <a:r>
              <a:t>保留query参数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566928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问题7 - 文件上传Content-Type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现象: 手动设multipart/form-data</a:t>
            </a:r>
            <a:br/>
            <a:r>
              <a:t>缺boundary, 服务端无法解析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解决: 去除手动Content-Type设置</a:t>
            </a:r>
            <a:br/>
            <a:r>
              <a:t>让axios自动生成含boundary的请求头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566928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566928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问题8 - 注册密码双重BCrypt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805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现象: Controller+Service各自encode</a:t>
            </a:r>
            <a:br/>
            <a:r>
              <a:t>存储BCrypt(BCrypt(明文))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解决: 去掉Controller重复编码</a:t>
            </a:r>
            <a:br/>
            <a:r>
              <a:t>统一由UserServiceImpl.save()处理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303520"/>
            <a:ext cx="11612880" cy="10972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经验总结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BFDBFE"/>
                </a:solidFill>
                <a:latin typeface="Microsoft YaHei"/>
              </a:defRPr>
            </a:pPr>
            <a:r>
              <a:t>• 文档先行: 升级依赖前查阅CHANGELOG和Migration Guide    • 编码规范: 统一加密/验证在Service层,Controller只做参数接收</a:t>
            </a:r>
            <a:br/>
            <a:r>
              <a:t>• 防御编程: 数据库查询考虑NULL边界    • 代理配置: 理解前端代理与后端路径的映射关系    • 生产部署: 优先TCP连接避免Socket路径问题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十、项目总结 — 成果汇总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161288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3716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80+文件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173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源代码总数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涵盖后端Java+前端Vue+鸿蒙ArkTS+配置+SQL+文档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40280"/>
            <a:ext cx="1161288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240280"/>
            <a:ext cx="1371600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19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2860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后端API端点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5个公共+5个客户端+9个管理端, 覆盖全部业务场景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1161288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13716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154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12张数据表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154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MySQL 8.0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从用户/商品/订单核心表到地址/收藏/评价扩展表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77639"/>
            <a:ext cx="1161288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977639"/>
            <a:ext cx="1371600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2335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27个Vue页面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02335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前端组件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15个客户端页面+12个管理端页面, 双端独立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846320"/>
            <a:ext cx="1161288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846320"/>
            <a:ext cx="137160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892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3个终端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8920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多端覆盖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移动Web(Vant)+PC管理(ElementPlus)+鸿蒙(ArkTS)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715000"/>
            <a:ext cx="1161288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715000"/>
            <a:ext cx="13716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7607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37个测试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7607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100%通过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用户端24个+管理端13个, 覆盖全部核心功能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十、项目总结 — 创新点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AI客服 + RAG简化实现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DeepSeek大模型 + 关联词映射引擎(11品类60+关键词)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自然语言→商品推荐(最多3个)→聊天卡片→点击购买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API失败自动降级(&lt;1s预设回复)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F97316"/>
                </a:solidFill>
                <a:latin typeface="Microsoft YaHei"/>
              </a:defRPr>
            </a:pPr>
            <a:r>
              <a:t>技术难度: ★★★★☆ | 实用价值: ★★★★★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三维设备检测策略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UA检测 + 触摸屏检测 + 屏幕宽度三维判定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解决高分辨率手机(1080px)误判PC端问题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移动端Vant4+PC端京东风格, 自动切换无需用户干预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F97316"/>
                </a:solidFill>
                <a:latin typeface="Microsoft YaHei"/>
              </a:defRPr>
            </a:pPr>
            <a:r>
              <a:t>技术难度: ★★★☆☆ | 实用价值: ★★★★☆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17520"/>
            <a:ext cx="5669280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017520"/>
            <a:ext cx="5669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GPS/IP双重定位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20439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GPS(W3CGeolocation)→PermissionDenied→IP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Nominatim逆地理编码(含User-Agent头)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→ipapi.co→api.ip.sb双重IP回退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F97316"/>
                </a:solidFill>
                <a:latin typeface="Microsoft YaHei"/>
              </a:defRPr>
            </a:pPr>
            <a:r>
              <a:t>技术难度: ★★★☆☆ | 实用价值: ★★★★☆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017520"/>
            <a:ext cx="5669280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5669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前后端一体化部署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20439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Vue前端dist→SpringBoot static目录→Maven Package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FatJAR 64MB, java -jar一键启动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无需Nginx/分离部署, 降低运维复杂度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F97316"/>
                </a:solidFill>
                <a:latin typeface="Microsoft YaHei"/>
              </a:defRPr>
            </a:pPr>
            <a:r>
              <a:t>技术难度: ★★☆☆☆ | 实用价值: ★★★★★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5669280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663440"/>
            <a:ext cx="5669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12张表完整数据模型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663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覆盖user→order_info→order_item完整订单链路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快照机制(order_item存储下单时商品快照)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逻辑删除(@TableLogic)保证数据安全可恢复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F97316"/>
                </a:solidFill>
                <a:latin typeface="Microsoft YaHei"/>
              </a:defRPr>
            </a:pPr>
            <a:r>
              <a:t>技术难度: ★★★☆☆ | 实用价值: ★★★★★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十、项目总结 — 不足与改进方向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6576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6576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支付真实化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当前: 模拟支付按钮+状态流转(前端确认)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改进: 接入支付宝/微信支付SDK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真实支付回调+订单状态自动更新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支付安全(签名验证/金额校验)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6576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657600" cy="4114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AI推荐精准化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74519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当前: 关联词映射(品类→关键词)搜索DB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改进: 引入向量数据库(Milvus/Weaviate)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商品描述embedding语义搜索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用户行为推荐(协同过滤/深度学习)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6576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65760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图片存储优化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74519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当前: base64存储在数据库longtext字段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数据库体积大, 查询效率低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改进: 迁移至OSS(阿里云/七牛)对象存储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图片URL引用, 按需加载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31920"/>
            <a:ext cx="36576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365760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776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性能优化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当前: 单体应用, 单机部署(2核4G)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改进: Redis缓存热门数据(商品/分类)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消息队列(RabbitMQ)异步处理订单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分布式架构(SpringCloud微服务化)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931920"/>
            <a:ext cx="36576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3931920"/>
            <a:ext cx="365760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9776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功能扩展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4348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当前: 覆盖电商核心流程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改进: 优惠券/满减/秒杀活动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物流追踪(快递100 API)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数据可视化(ECharts销售趋势图)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消息推送(WebSocket实时通知)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931920"/>
            <a:ext cx="36576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931920"/>
            <a:ext cx="3657600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9776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安全增强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348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365D"/>
                </a:solidFill>
                <a:latin typeface="Microsoft YaHei"/>
              </a:defRPr>
            </a:pPr>
            <a:r>
              <a:t>当前: BCrypt+JWT+@PreAuthorize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改进: HTTPS/TLS证书配置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验证码(滑块/短信)防刷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接口限流(RateLimiter/令牌桶)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  → SQL审计日志+异常IP检测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  <a:p>
            <a:pPr algn="ctr">
              <a:spcBef>
                <a:spcPts val="1600"/>
              </a:spcBef>
              <a:defRPr sz="2600" b="0">
                <a:solidFill>
                  <a:srgbClr val="BFDBFE"/>
                </a:solidFill>
                <a:latin typeface="Microsoft YaHei"/>
              </a:defRPr>
            </a:pPr>
            <a:r>
              <a:t>请各位老师批评指正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00400"/>
            <a:ext cx="4846320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3657600"/>
            <a:ext cx="6675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"柒玖商店" — 基于SpringBoot多前端多平台的商城系统</a:t>
            </a:r>
          </a:p>
          <a:p>
            <a:pPr algn="ctr">
              <a:spcBef>
                <a:spcPts val="800"/>
              </a:spcBef>
              <a:defRPr sz="1000" b="0">
                <a:solidFill>
                  <a:srgbClr val="BFDBFE"/>
                </a:solidFill>
                <a:latin typeface="Microsoft YaHei"/>
              </a:defRPr>
            </a:pPr>
          </a:p>
          <a:p>
            <a:pPr algn="ctr">
              <a:spcBef>
                <a:spcPts val="800"/>
              </a:spcBef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姓   名：李  鑫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学   号：202330302152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专   业：软件技术  |  班 级：2307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指导教师：彭德宇</a:t>
            </a:r>
          </a:p>
          <a:p>
            <a:pPr algn="ctr">
              <a:spcBef>
                <a:spcPts val="800"/>
              </a:spcBef>
              <a:defRPr sz="1400" b="0">
                <a:solidFill>
                  <a:srgbClr val="BFDBFE"/>
                </a:solidFill>
                <a:latin typeface="Microsoft YaHei"/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