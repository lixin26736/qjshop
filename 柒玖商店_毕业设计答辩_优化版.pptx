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1463040"/>
            <a:ext cx="6675120" cy="9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8503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柒玖商店</a:t>
            </a:r>
          </a:p>
          <a:p>
            <a:pPr algn="ctr">
              <a:spcBef>
                <a:spcPts val="800"/>
              </a:spcBef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基于 SpringBoot 多前端多平台的商城系统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749039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毕业设计答辩</a:t>
            </a:r>
          </a:p>
          <a:p>
            <a:pPr algn="ctr">
              <a:spcBef>
                <a:spcPts val="1400"/>
              </a:spcBef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李 鑫 | 202330302152 | 软件技术 2307 班 | 彭德宇 老师 | 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CONTENTS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答辩大纲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39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项目背景</a:t>
            </a:r>
            <a:br/>
            <a:r>
              <a:t>与选题意义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280160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80" y="1280160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417319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377439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技术架构</a:t>
            </a:r>
            <a:br/>
            <a:r>
              <a:t>概述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280160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1280160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417319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377439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需求分析与</a:t>
            </a:r>
            <a:br/>
            <a:r>
              <a:t>功能模块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1280160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95160" y="1280160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417319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377439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数据库</a:t>
            </a:r>
            <a:br/>
            <a:r>
              <a:t>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280160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0" y="1280160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417319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77439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用户端功能</a:t>
            </a:r>
            <a:br/>
            <a:r>
              <a:t>演示(上)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49039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749039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8862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用户端功能</a:t>
            </a:r>
            <a:br/>
            <a:r>
              <a:t>演示(下)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3749039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97480" y="3749039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8862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8463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管理端功能</a:t>
            </a:r>
            <a:br/>
            <a:r>
              <a:t>演示(上)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3749039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46320" y="3749039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59" y="38862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48463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管理端功能</a:t>
            </a:r>
            <a:br/>
            <a:r>
              <a:t>演示(下)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5160" y="3749039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95160" y="3749039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38862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8463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AI 智能客服</a:t>
            </a:r>
            <a:br/>
            <a:r>
              <a:t>(核心亮点)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749039"/>
            <a:ext cx="19659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44000" y="3749039"/>
            <a:ext cx="1965960" cy="54864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8862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408E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84632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作品测试与</a:t>
            </a:r>
            <a:br/>
            <a:r>
              <a:t>项目总结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01 项目背景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电商发展现状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2025年中国网络零售市场超过15万亿元，电商与AI深度融合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3/31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200400" cy="13716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301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15万亿+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2025年网络零售规模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2004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575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30%+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占社消零售总额比重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3200400" cy="1371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1197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7x24h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全天候突破时空限制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09728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趋势驱动因素</a:t>
            </a:r>
          </a:p>
          <a:p>
            <a:pPr algn="l">
              <a:spcBef>
                <a:spcPts val="1000"/>
              </a:spcBef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线上消费习惯全面养成，移动支付渗透率超90%</a:t>
            </a:r>
          </a:p>
          <a:p>
            <a:pPr algn="l">
              <a:spcBef>
                <a:spcPts val="1000"/>
              </a:spcBef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AI大模型(DeepSeek等)为电商智能化带来全新可能</a:t>
            </a:r>
          </a:p>
          <a:p>
            <a:pPr algn="l">
              <a:spcBef>
                <a:spcPts val="1000"/>
              </a:spcBef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鸿蒙生态扩展，多终端适配成为应用标配</a:t>
            </a:r>
          </a:p>
          <a:p>
            <a:pPr algn="l">
              <a:spcBef>
                <a:spcPts val="1000"/>
              </a:spcBef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中小商家数字化转型需求旺盛，但技术门槛高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069848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8978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t>核心洞察: 电商持续增长 | AI+鸿蒙新机遇 | 中小商家需要低成本智能化方案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01 项目背景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选题意义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四大维度阐述课题价值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4/31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04319" y="384048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704319" y="3840480"/>
            <a:ext cx="260604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41480" y="397764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408E"/>
                </a:solidFill>
                <a:latin typeface="Microsoft YaHei"/>
              </a:defRPr>
            </a:pPr>
            <a:r>
              <a:t>技术整合实践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SpringBoot+Vue3+鸿蒙全栈集成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JWT认证+MyBatis-Plus高效持久层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Vant移动+ElementPlus管理双UI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19" y="384048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704319" y="3840480"/>
            <a:ext cx="26060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41480" y="397764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Microsoft YaHei"/>
              </a:defRPr>
            </a:pPr>
            <a:r>
              <a:t>AI 创新落地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DeepSeek大模型电商场景应用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RAG简化实现+关联词推荐引擎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API失败自动降级(&lt;1s预设回复)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19" y="384048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704319" y="3840480"/>
            <a:ext cx="260604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41480" y="397764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Microsoft YaHei"/>
              </a:defRPr>
            </a:pPr>
            <a:r>
              <a:t>多端适配工程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移动Web(Vant4)+PC(ElementPlus)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鸿蒙ArkTS原生WebView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三维设备检测(UA+触摸+宽度)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19" y="3840480"/>
            <a:ext cx="260604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19" y="3840480"/>
            <a:ext cx="260604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41480" y="397764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商业实用价值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中小商家低成本解决方案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12张表完整电商数据模型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40商品+12订单真实数据验证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02 技术架构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系统全景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三层分层架构: 前端展示层 + 后端服务层 + 基础设施层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5/31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069848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73152" cy="146304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1887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8E"/>
                </a:solidFill>
                <a:latin typeface="Microsoft YaHei"/>
              </a:defRPr>
            </a:pPr>
            <a:r>
              <a:t>前端展示层</a:t>
            </a:r>
          </a:p>
          <a:p>
            <a:pPr algn="l">
              <a:spcBef>
                <a:spcPts val="400"/>
              </a:spcBef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Vue3 + Vite + Vant4 + ElementPlus + ArkTS</a:t>
            </a:r>
          </a:p>
          <a:p>
            <a:pPr algn="l">
              <a:spcBef>
                <a:spcPts val="4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27个Vue页面 | 7个API模块 | PC/移动/鸿蒙三端覆盖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1069848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73152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83464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后端服务层</a:t>
            </a:r>
          </a:p>
          <a:p>
            <a:pPr algn="l">
              <a:spcBef>
                <a:spcPts val="400"/>
              </a:spcBef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SpringBoot3.2 + MyBatis-Plus + Security + JWT</a:t>
            </a:r>
          </a:p>
          <a:p>
            <a:pPr algn="l">
              <a:spcBef>
                <a:spcPts val="4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19个Controller | 11个Service | DeepSeek AI服务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069848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389120"/>
            <a:ext cx="73152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480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Microsoft YaHei"/>
              </a:defRPr>
            </a:pPr>
            <a:r>
              <a:t>基础设施层</a:t>
            </a:r>
          </a:p>
          <a:p>
            <a:pPr algn="l">
              <a:spcBef>
                <a:spcPts val="400"/>
              </a:spcBef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MySQL8.0 + Druid + CentOS7.9</a:t>
            </a:r>
          </a:p>
          <a:p>
            <a:pPr algn="l">
              <a:spcBef>
                <a:spcPts val="4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12张数据表 | FatJAR 64MB | java -jar 一键部署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035040"/>
            <a:ext cx="10698480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605332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8E"/>
                </a:solidFill>
                <a:latin typeface="Microsoft YaHei"/>
              </a:defRPr>
            </a:pPr>
            <a:r>
              <a:t>架构特点: 前后端分离 | RESTful API JSON通信 | JWT无状态认证 | 前后端一体化FatJAR部署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02 技术架构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前端技术栈详解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三端覆盖: 移动端Vant4 / PC端ElementPlus / 鸿蒙端ArkTS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6/31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移动端用户商城 (Vant4)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组件: NavBar/Tabbar/Swipe/Sidebar/ActionBar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状态: Pinia cartStore+userStore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适配: 320px-768px触摸优化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0972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097280"/>
            <a:ext cx="356616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7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PC管理后台 (ElementPlus)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布局: el-container/aside/header/main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表格: el-table+el-pagination分页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移动端: CSS媒体查询全局响应式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0972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097280"/>
            <a:ext cx="356616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07007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Microsoft YaHei"/>
              </a:defRPr>
            </a:pPr>
            <a:r>
              <a:t>鸿蒙原生端 (ArkTS)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语言: ArkTS 1.2.1 + ArkUI框架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组件: @kit.ArkWeb WebView加载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配置: domStorageAccess+javaScriptAccess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80"/>
            <a:ext cx="53035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438144"/>
            <a:ext cx="5084064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设备检测策略 (responsive.js)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ua = navigator.userAgent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isMobileUA = /Android|iPhone|iPad|Mobile/i.test(ua)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hasTouch = "ontouchstart" in window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function detectMobile()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(isMobileUA) return true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(hasTouch &amp;&amp; w&lt;1024) return true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(!hasTouch &amp;&amp; w&lt;600) return true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53035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438144"/>
            <a:ext cx="5084064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首页并行加载 (Home.vue)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[categories,hot,new_p,banners]=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await Promise.all([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categoryApi.getCategoryList(),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productApi.getHotProducts(),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productApi.getNewProducts(),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bannerApi.list("home").catch(()=&gt;[])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])  // 四接口并行,首屏加载优化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02 技术架构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后端技术栈详解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SpringBoot3.2.5 + MyBatis-Plus3.5.5 + Security6.1 + JWT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7/31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认证授权模块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JwtAuthenticationFilter 解析Token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提取userId/username/role→Authentication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@PreAuthorize("hasRole(ADMIN)")权限控制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SecurityFilterChain: 默认允许+注解授权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097280"/>
            <a:ext cx="356616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持久层模块 (MyBatis-Plus)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LambdaQueryWrapper类型安全查询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BaseMapper零XML CRUD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@TableLogic全表逻辑删除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@Select注解自定义统计SQL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097280"/>
            <a:ext cx="356616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Microsoft YaHei"/>
              </a:defRPr>
            </a:pPr>
            <a:r>
              <a:t>业务与AI模块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11个Service+Impl业务实现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DeepSeekService AI对话+推荐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FileUploadController图片上传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ApachePOI Excel导出服务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234440" cy="1188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840480"/>
            <a:ext cx="12344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840480"/>
            <a:ext cx="1234440" cy="1188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Mapper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840480"/>
            <a:ext cx="1234440" cy="1188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Vue页面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840480"/>
            <a:ext cx="1234440" cy="1188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9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840480"/>
            <a:ext cx="12344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API模块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840480"/>
            <a:ext cx="1234440" cy="1188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3840480"/>
            <a:ext cx="1234440" cy="1188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40187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终端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035040"/>
            <a:ext cx="10698480" cy="365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605332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8E"/>
                </a:solidFill>
                <a:latin typeface="Microsoft YaHei"/>
              </a:defRPr>
            </a:pPr>
            <a:r>
              <a:t>80+源文件 | 19 Controller | 11 Service | 12 Mapper | 12 Table | 27 Page | 37 Test | 3 Terminal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03 需求分析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用户端功能模块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10个核心模块覆盖完整购物流程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8/31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商品浏览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Banner+分类+搜索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热门+新品推荐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80" y="109728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商品详情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PC京东双栏布局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移动Vant轮播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109728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购物车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Pinia状态管理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全选/结算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60" y="109728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订单管理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5状态Tab切换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取消/支付/收货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09728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收货地址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GPS/IP双重定位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CRUD+默认标记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88620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个人中心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卡片布局+统计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摄像头拍照头像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388620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收藏管理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收藏/取消+列表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跳转商品详情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46320" y="388620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AI客服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DeepSeek对话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商品推荐卡片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95160" y="388620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注册登录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JWT+BCrypt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表单校验+守卫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3886200"/>
            <a:ext cx="19659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408E"/>
                </a:solidFill>
                <a:latin typeface="Microsoft YaHei"/>
              </a:defRPr>
            </a:pPr>
            <a:r>
              <a:t>下单支付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地址→确认→提交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模拟支付弹窗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03 需求分析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管理端功能模块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10个管理模块覆盖平台全维度数据管理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9/31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仪表盘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四维统计卡片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订单+热销表格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80" y="109728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用户管理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搜索筛选CRUD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Excel导出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109728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分类管理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一级/二级展开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级联删除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95160" y="109728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商品管理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三级导航筛选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上下架/导出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09728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09728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34439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订单管理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筛选+详情弹窗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一键发货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88620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Banner管理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CRUD+上传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时间排期设置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97480" y="388620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评价管理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回复+显示隐藏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评分展示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46320" y="388620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59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客服消息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对话查看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手动回复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9516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95160" y="388620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系统设置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密码修改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关于信息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886200"/>
            <a:ext cx="19659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0" y="3886200"/>
            <a:ext cx="19659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023360"/>
            <a:ext cx="1783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移动适配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表格/弹窗/分页</a:t>
            </a:r>
          </a:p>
          <a:p>
            <a:pPr algn="ctr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抽屉响应式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04 数据库设计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12张核心数据表总览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覆盖商品/订单/用户/内容四大领域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10/31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256032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user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15字段·用户/角色/状态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972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097280"/>
            <a:ext cx="256032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34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product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19字段·价格/库存/热销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0972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1097280"/>
            <a:ext cx="256032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1234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category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9字段·二级/base64图标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0972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1097280"/>
            <a:ext cx="256032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2344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order_info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16字段·5状态流转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260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926080"/>
            <a:ext cx="256032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order_item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11字段·商品快照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9260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91840" y="2926080"/>
            <a:ext cx="256032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product_spec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8字段·SKU规格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9260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926080"/>
            <a:ext cx="256032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address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10字段·GPS定位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29260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78240" y="2926080"/>
            <a:ext cx="256032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banner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11字段·轮播排期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754880"/>
            <a:ext cx="256032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review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13字段·评分回复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7548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91840" y="4754880"/>
            <a:ext cx="256032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favorite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4字段·用户收藏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7548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35040" y="4754880"/>
            <a:ext cx="256032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79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cart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7字段·购物车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4754880"/>
            <a:ext cx="256032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78240" y="4754880"/>
            <a:ext cx="256032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0" y="4892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customer_service</a:t>
            </a:r>
          </a:p>
          <a:p>
            <a:pPr algn="l">
              <a:spcBef>
                <a:spcPts val="4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8字段·客服消息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04 数据库设计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设计特点与初始数据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逻辑删除 / 快照机制 / 雪花ID / 参数化查询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11/31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设计特点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逻辑删除: 12张表全部deleted字段, @TableLogic自动过滤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订单快照: order_item存储下单时商品名/价格/图片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雪花ID: Hutool IdUtil.getSnowflakeNextIdStr()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BCrypt密码: Spring Security BCryptPasswordEncoder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参数化查询: LambdaQueryWrapper防SQL注入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初始数据统计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商品: 40件(手机/电脑/家电/服装/美妆/食品/运动等)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订单: 12条(覆盖5种状态流转)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评价: 24条(含评分/图片/管理员回复)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规格: 57条 | 地址: 15条 | Banner: 5条(Unsplash)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用户: 8名(含管理员) | 分类: 7一级+30二级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53035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9663"/>
            <a:ext cx="508406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MyBatis-Plus逻辑删除配置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@TableLogic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private Integer deleted;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deleteById → UPDATE ... SET deleted=1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selectList → WHERE deleted=0 自动过滤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303520" cy="201168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169663"/>
            <a:ext cx="508406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雪花算法生成订单号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import cn.hutool.core.util.IdUtil;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String orderNo = IdUtil.getSnowflakeNextIdStr();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分布式唯一ID, 无需数据库自增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示例: 1847654321098765432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05 用户端功能(上)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首页与商品浏览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/client/home | /client/category | /client/product/:id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12/31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首页功能 (Home.vue)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Banner轮播: VantSwipe 3s自动播放, 5条数据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分类导航: DB中base64图标, 响应式4-5列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热门商品: /api/products/hot 销量Top10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新品推荐: /api/products/new 时间Top10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搜索栏: 圆形搜索框, keyword模糊匹配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分类与搜索 (Category.vue)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一级分类: VantSidebar侧边栏点击切换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二级分类: VantTabs标签动态加载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响应式网格: CSSGrid 3列(小屏)/4列/5列(大屏)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搜索模式: 隐藏侧边栏→调用/api/products/search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占位图: SVG渐变+商品首字 12色轮换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303520" cy="21945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12463"/>
            <a:ext cx="5084064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商品搜索后端实现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LambdaQueryWrapper&lt;Product&gt; w = new LambdaQueryWrapper&lt;&gt;()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w.eq(Product::getStatus, 1).gt(Product::getStock, 0)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w.and(wr -&gt;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for (String word : words)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wr.or().like(Product::getName, word)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.or().like(Product::getSubtitle, word)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.or().like(Product::getDescription, word)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w.orderByDesc(Product::getSales).last("limit 10")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57600"/>
            <a:ext cx="5303520" cy="2194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256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首页截图 + 分类页截图]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05 用户端功能(上)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商品详情 — 双端自适应布局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移动端Vant4轮播+ActionBar | PC端京东风格左右双栏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13/31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移动端布局 (Vant4)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顶部: VantSwipe图片轮播(3s自动)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价格区: 红色¥价格+原价划线+销量/库存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规格选择: VantCell→底部Popup弹窗标签选择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底部ActionBar: 客服/收藏/购物车/加购/购买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占位图: SVG渐变+商品首字(12色)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PC端布局 (京东风格)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左侧450px: 大图+60px缩略图条点击切换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右侧价格区: ¥28px红字+原价14px划线+折扣%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规格选择: 标签直接点击切换(价格联动)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数量: VantStepper min=1 max=库存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大按钮: 加购160x48/购买160x48/收藏/客服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219456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86783"/>
            <a:ext cx="5084064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PC端缩略图切换逻辑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activeImg = ref(product.mainImage)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images = computed(() =&gt;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const imgs = [product.mainImage]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// JSON.parse(detailImages) 兼容数组/逗号分隔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(product.detailImages)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const arr = JSON.parse(product.detailImages)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arr.forEach(img =&gt; imgs.push(img))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return imgs.length ? imgs : [placeholder]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7000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移动端商品详情截图 | PC端商品详情截图 — 左右分栏对比]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05 用户端功能(上)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购物车 / 订单管理 / 收货地址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核心交易流程: 加购 → 下单 → 支付 → 发货 → 收货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14/31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购物车 (Cart.vue)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Pinia cartStore集中管理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localStorage持久化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全选/数量/删除/实时总金额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提交→结算页(地址+商品+备注)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56616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订单管理 (OrderList)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5状态Tab(全部/待付/待发/待收/完成)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切换Tab→resetAndLoad()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取消/支付/确认收货按钮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详情: /client/order/:id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097280"/>
            <a:ext cx="356616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Microsoft YaHei"/>
              </a:defRPr>
            </a:pPr>
            <a:r>
              <a:t>收货地址 (AddressList)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VantAddressList+默认标记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GPS定位→Nominatim逆地理编码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权限拒绝→IP定位(ipapi+ipsb)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CRUD+设置默认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94360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12463"/>
            <a:ext cx="572414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订单提交核心代码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items = checkoutItems.map(i =&gt; ({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productId: i.id, quantity: i.quantity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res = await orderApi.createOrder({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addressId: selectedAddress.id, items, remark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})  // 返回: { orderId, orderNo, totalAmount 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71246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GPS/IP双重定位策略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1. GPS: navigator.geolocation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2. 逆地理: Nominatim API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3. 权限拒绝→IP定位: ipapi.co/json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4. 备用: api.ip.sb/geoip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全失败→提示手动输入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05 用户端功能(下)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个人中心 / 账号设置 / AI客服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/client/profile | /client/settings | /client/cs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15/31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个人中心 (Profile)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渐变卡片头像区+昵称/手机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订单统计: 5状态数量(API实时)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服务宫格: 订单/地址/收藏/客服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退出登录(确认弹窗)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56616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账号设置 (Settings)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头像: 相册选择+摄像头拍照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capture="camera" 调用设备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大小限制: 10MB→FileReader→base64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资料: 昵称/手机/邮箱/性别/生日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097280"/>
            <a:ext cx="356616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Microsoft YaHei"/>
              </a:defRPr>
            </a:pPr>
            <a:r>
              <a:t>AI客服 (CustomerService)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欢迎语: 工号26793小琉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快捷问题: 5个标签一键发送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AI思考: 三点闪烁动画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回复: Markdown过滤+商品卡片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94360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12463"/>
            <a:ext cx="572414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AI客服前端核心逻辑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sendMessage = async () =&gt;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const res = await csApi.sendMessage(text)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let reply = res.reply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.replace(/[*#_`~&gt;-]/g, "")  // 去符号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.replace(/\[RECOMMEND\].*?\/g, "")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messages.push({content: reply,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products: res.products})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5303520" cy="16459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336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个人中心截图 | AI客服对话截图(含推荐卡片)]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06 管理端功能(上)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仪表盘与用户管理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/admin/dashboard | /admin/user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16/31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仪表盘 (Dashboard.vue)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统计卡片: 4个ElementPlusCard+彩色图标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(用户总数/商品总数/订单总数/销售总额)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最近订单: el-table最近10条(订单号/金额/状态)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热销商品: 销量Top10(商品名/销量/价格)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数据源: DashboardStatsVO统一封装返回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用户管理 (User.vue)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搜索: keyword(用户名/昵称/手机)+role+status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列表: ID/用户名/昵称/手机/邮箱/角色/状态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CRUD: Dialog表单(含头像上传→base64)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导出: ApachePOI SXSSFWorkbook→xlsx下载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密码: UserServiceImpl.update() BCrypt加密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仪表盘数据统计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DashboardServiceImpl.stats()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Long userCount = userMapper.selectCount(wrapper)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Long productCount = productMapper.selectCount(wrapper)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BigDecimal totalSales = orderMapper.sumPayAmount()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Long todayOrders = orderMapper.countTodayOrders(start,end)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用户Excel导出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@GetMapping("/export")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public void export(HttpServletResponse res){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List&lt;User&gt; users = userService.listAll(...)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String[] headers={"ID","用户名","昵称",...}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ExcelExportUtil.exportExcel(res,headers,data)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06 管理端功能(上)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分类管理与商品管理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/admin/category | /admin/product (三级导航)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17/31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分类管理 (Category.vue)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一级分类: el-table + type="expand"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展开显示二级子分类(独立子表格)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ID/名称/排序/状态标签/编辑/删除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Dialog: 名称(input)+排序(number)+状态(select)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删除: ElMessageBox.confirm(级联提示)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商品管理 (Product.vue)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三级导航: 一级分类→查看子分类→查看商品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el-breadcrumb面包屑路径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列表: keyword+status筛选+el-pagination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Dialog: 18字段完整表单(名称/价格/库存/等)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主图/多详情图上传管理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导出: /api/admin/products/export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商品分页查询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LambdaQueryWrapper&lt;Product&gt; w = new LambdaQueryWrapper&lt;&gt;()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w.eq(categoryId!=null, Product::getCategoryId, id)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.like(keyword!=null, Product::getName, keyword)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.eq(status!=null, Product::getStatus, status)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.orderByDesc(Product::getSortOrder)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Page&lt;Product&gt; p = mapper.selectPage(new Page&lt;&gt;(), 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分类子分类加载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const getChildren = (parentId) =&gt;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(!childrenCache[parentId])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request.get(`/${parentId}`).then(res=&gt;{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childrenCache = {...childrenCache,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    [parentId]: res}  // 对象替换触发响应式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})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06 管理端功能(下)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订单管理与Banner管理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/admin/order | /admin/banner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18/31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订单管理 (Order.vue)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搜索: orderNo+status筛选+分页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列表: ID/订单号/金额/支付方式/状态/时间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查看: Dialog弹窗→订单信息+商品明细table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发货: status=1→点击发货→status=2(待收货)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记录delivery_time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导出: /api/admin/orders/export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Banner管理 (Banner.vue)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列表: 缩略图/标题/位置/排序/状态/时间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Dialog: 标题+图片上传+链接+排序+时间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上传: FormData→/api/upload/image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UUID命名→uploads/日期/分目录→返回URL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前端: uploadApi.uploadImage(file)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状态: 启用/禁用(时间排期+IS NULL处理)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订单发货状态流转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@PutMapping("/{id}/ship")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public ApiResponse&lt;Void&gt; ship(@PathVariable Long id){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OrderInfo o = service.getById(id)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(o != null &amp;&amp; o.getStatus() == 1)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o.setStatus(2);  // 待收货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o.setDeliveryTime(LocalDateTime.now())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service.update(o)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图片上传处理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@PostMapping("/image")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public ApiResponse uploadImage(@RequestParam file){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if (!contentType.startsWith("image/"))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return error("只支持图片")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String dir = now().format("yyyy/MM/dd")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String name = UUID.randomUUID()+ext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file.transferTo(new File(uploadDir,dir,name))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return success("/uploads/"+dir+"/"+name)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06 管理端功能(下)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评价管理与系统设置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/admin/review | /admin/settings | 移动端响应式适配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19/31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评价管理 (Review)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productId+status筛选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Dialog回复(展示原评价+textarea)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保存: reply+reply_time更新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显示/隐藏切换+删除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56616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系统设置 (Settings)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修改密码: 原密码+新密码+确认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BCrypt加密→清除Token重登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关于: 系统版本+技术栈版本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客服消息: 对话查看+回复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0972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0" y="1097280"/>
            <a:ext cx="3566160" cy="3657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207007"/>
            <a:ext cx="32918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Microsoft YaHei"/>
              </a:defRPr>
            </a:pPr>
            <a:r>
              <a:t>移动端响应式适配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≤768px全局CSS媒体查询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表格12px/按钮缩小padding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弹窗92%宽/抽屉220px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分页居中/表单项间距缩小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94360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12463"/>
            <a:ext cx="572414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评价回复处理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@PutMapping("/{id}/reply")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reviewService.reply(id, body.get("reply"))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ReviewServiceImpl: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review.setReply(reply)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review.setReplyTime(LocalDateTime.now())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reviewMapper.updateById(review)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71246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移动端CSS响应式(全局)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@media (max-width: 768px)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.el-table { font-size: 12px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.el-button--small { padding: 4px 8px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.el-pagination { justify-content: center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.el-dialog { width: 92%!important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.el-drawer { width: 220px!important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566160" cy="18288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5720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Banner管理页面截图]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07 AI 智能客服 (核心亮点)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技术方案与工作流程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DeepSeek大语言模型 + RAG检索增强生成 + 关联词映射引擎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20/31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技术方案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模型: deepseek-chat (RestTemplate调用)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System Prompt: 动态构建(含商品列表+规则)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禁止Markdown符号, 口语化回复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角色: QJ商城AI助手小Q, 工号26793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关联词引擎: HashMap&lt;String,String[]&gt;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11个品类 60+关键词映射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推荐协议: [RECOMMEND]id1,id2,id3[/RECOMMEND]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6步工作流程</a:t>
            </a:r>
          </a:p>
          <a:p>
            <a:pPr algn="l"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1. 用户发送消息(支持泛指"我想要饮料")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  ↓</a:t>
            </a:r>
          </a:p>
          <a:p>
            <a:pPr algn="l"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2. 提取关键词+关联词扩展(11品类→DB搜索词)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  ↓</a:t>
            </a:r>
          </a:p>
          <a:p>
            <a:pPr algn="l"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3. LambdaQueryWrapper搜索DB(上架+有库存+销量Top10)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  ↓</a:t>
            </a:r>
          </a:p>
          <a:p>
            <a:pPr algn="l"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4. 构建System Prompt(商品列表+历史10条)+调用DeepSeek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  ↓</a:t>
            </a:r>
          </a:p>
          <a:p>
            <a:pPr algn="l"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5. API返回→解析[RECOMMEND]标记→上限3个商品卡片</a:t>
            </a:r>
          </a:p>
          <a:p>
            <a:pPr algn="l"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  ↓</a:t>
            </a:r>
          </a:p>
          <a:p>
            <a:pPr algn="l"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6. API失败→catch→getFallbackReply()降级预设回复(&lt;1s)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55680" cy="25603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529584"/>
            <a:ext cx="10936224" cy="245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关联词映射引擎 (11品类60+关键词)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static final Map&lt;String,String[]&gt; RELATED_WORDS = new LinkedHashMap&lt;&gt;()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{{"饮料",{"气泡水","可乐","橙汁","果汁","水","茶","咖啡"}}};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{{"手机",{"iPhone","华为","小米","OPPO","vivo","三星"}}};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{{"电脑",{"MacBook","ThinkPad","MateBook","笔记本"}}};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{{"衣服",{"羽绒","卫衣","大衣","CK","优衣库","Nike","ZARA"}}};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{{"护肤",{"SK-II","雅诗兰黛","海蓝之谜","神仙水","精华"}}};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{{"家电",{"冰箱","洗衣机","空调","电视","戴森","吸尘器"}}};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共11品类: 饮料/手机/电脑/耳机/零食/衣服/鞋/护肤/家电/酒/手表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07 AI 智能客服 (核心亮点)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前端展示与效果示例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聊天气泡 + 商品推荐卡片 + 降级策略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21/31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前端聊天UI (CustomerService.vue)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欢迎区: 机器人emoji+工号+快捷问题(5个标签)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消息气泡: 用户蓝色右对齐 / AI 白色左对齐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AI思考: 三点闪烁动画(blink keyframes)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推荐卡片: 56x44图片+名称+价格+跳转箭头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@click="goProduct(p.id)"→/client/product/:id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Markdown过滤: /[*#_`~&gt;-]/g正则清理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580C"/>
                </a:solidFill>
                <a:latin typeface="Microsoft YaHei"/>
              </a:defRPr>
            </a:pPr>
            <a:r>
              <a:t>效果演示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用户: "我想要饮料"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AI: "为您推荐以下饮料哦~"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【元气森林气泡水】无糖低卡 ¥59.90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【智利进口车厘子】JJ级 ¥199.00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用户: "推荐一款手机"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AI: 推荐iPhone15ProMax/小米14Pro/三星S24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各附价格+购买链接(点击卡片跳转)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943600" cy="14630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12463"/>
            <a:ext cx="572414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AI推荐解析(后端)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解析[RECOMMEND]id1,id2,id3[/RECOMMEND]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if (content.contains("[RECOMMEND]"))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String ids = content.substring(start+11,end)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for (String idStr : ids.split(","))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Long id = Long.parseLong(idStr.trim())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// 匹配推荐商品→组装卡片数据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  // {id, name, price, image, link}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57600"/>
            <a:ext cx="5303520" cy="146304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712463"/>
            <a:ext cx="508406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降级策略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 catch (Exception e) {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return fallbackReply(userMessage)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// 预设关键词回复: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// "订单"→发货时间/查看指引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// "退货"→退款流程说明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// "运费"→包邮政策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  // 默认→引导性回复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530352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AI客服对话界面截图 — 展示推荐卡片效果]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394960"/>
            <a:ext cx="5303520" cy="91440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715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管理端客服管理界面截图]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08 作品测试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测试概览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37个测试用例 | 100%通过率 | 双端全覆盖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22/31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011680" cy="13716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301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测试用例总数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097280"/>
            <a:ext cx="2011680" cy="13716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30301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测试通过率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097280"/>
            <a:ext cx="201168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30301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用户端用例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097280"/>
            <a:ext cx="201168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30301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管理端用例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097280"/>
            <a:ext cx="2011680" cy="13716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0301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Chrome/Edge</a:t>
            </a:r>
            <a:br/>
            <a:r>
              <a:t>Safari/微信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兼容性验证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4320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8346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测试环境</a:t>
            </a:r>
          </a:p>
          <a:p>
            <a:pPr algn="l">
              <a:spcBef>
                <a:spcPts val="8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服务器: 阿里云ECS 2核4G CentOS7.9</a:t>
            </a:r>
          </a:p>
          <a:p>
            <a:pPr algn="l">
              <a:spcBef>
                <a:spcPts val="8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数据库: MySQL 8.0 (数据库qj_shop)</a:t>
            </a:r>
          </a:p>
          <a:p>
            <a:pPr algn="l">
              <a:spcBef>
                <a:spcPts val="8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浏览器: Chrome120+/Edge120+/Safari17+/微信</a:t>
            </a:r>
          </a:p>
          <a:p>
            <a:pPr algn="l">
              <a:spcBef>
                <a:spcPts val="8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设备: iPhone14Pro / AndroidChrome / 鸿蒙模拟器</a:t>
            </a:r>
          </a:p>
          <a:p>
            <a:pPr algn="l">
              <a:spcBef>
                <a:spcPts val="8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PC分辨率: 1920x1080 / 1366x768</a:t>
            </a:r>
          </a:p>
          <a:p>
            <a:pPr algn="l">
              <a:spcBef>
                <a:spcPts val="8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数据: 40商品/12订单/24评价/8用户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8346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Microsoft YaHei"/>
              </a:defRPr>
            </a:pPr>
            <a:r>
              <a:t>用户端测试用例 (24个) 全部通过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注册(合法/重复) | 登录(正确/错误)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首页加载 | 搜索 | 分类浏览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商品详情(移动/PC双端) | 规格选择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购物车(加入/修改/删除/全选/结算)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下单(地址→确认→支付) | 订单(Tab/取消)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AI客服(泛指推荐/口语回复/降级)</a:t>
            </a:r>
          </a:p>
          <a:p>
            <a:pPr algn="l">
              <a:spcBef>
                <a:spcPts val="6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个人中心(统计/头像拍照) | 地址(GPS)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069848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96188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8E"/>
                </a:solidFill>
                <a:latin typeface="Microsoft YaHei"/>
              </a:defRPr>
            </a:pPr>
            <a:r>
              <a:t>管理端13个用例全部通过: 仪表盘 | 用户CRUD | 分类CRUD | 商品三级 | 订单发货 | Banner上传 | 评价回复 | 移动适配 | Excel导出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08 作品测试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兼容性与性能验证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多浏览器/多设备/多分辨率全覆盖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23/31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03520" cy="36576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8E"/>
                </a:solidFill>
                <a:latin typeface="Microsoft YaHei"/>
              </a:defRPr>
            </a:pPr>
            <a:r>
              <a:t>浏览器与设备兼容性 (全部通过)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Chrome 120+ ✓  Edge 120+ ✓  Safari 17+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微信内置浏览器(Android) ✓  (iOS)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鸿蒙DevEco模拟器: WebView正常加载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响应式: 320px~1920px全覆盖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小屏(&lt;500px)商品3列 | 中屏4列 | 大屏5列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高分辨率手机: UA检测→正确显示移动布局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657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07007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性能指标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页面首次加载: &lt;3秒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商品列表查询: &lt;1秒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订单提交: &lt;2秒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AI客服(正常): 3-5秒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AI客服(降级): &lt;1秒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并发50用户浏览: 无明显延迟 ✓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JAR启动: ~7秒 | JAR大小: 64MB</a:t>
            </a:r>
          </a:p>
          <a:p>
            <a:pPr algn="l">
              <a:spcBef>
                <a:spcPts val="300"/>
              </a:spcBef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前端dist: 38文件 | 后端class: 80+文件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Druid连接池监控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/druid/index.html 实时监控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活跃连接数 | SQL执行时间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慢SQL记录(&gt;2s) | 连接池状态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3986783"/>
            <a:ext cx="5084064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Microsoft YaHei"/>
              </a:defRPr>
            </a:pPr>
            <a:r>
              <a:t>性能优化建议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可引入Redis缓存热门数据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可引入RabbitMQ异步处理订单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图片可迁移至OSS对象存储</a:t>
            </a:r>
          </a:p>
          <a:p>
            <a:pPr algn="l">
              <a:spcBef>
                <a:spcPts val="200"/>
              </a:spcBef>
              <a:defRPr sz="900">
                <a:solidFill>
                  <a:srgbClr val="E2E8F0"/>
                </a:solidFill>
                <a:latin typeface="Consolas"/>
              </a:defRPr>
            </a:pPr>
            <a:r>
              <a:t>// 可配置CDN加速静态资源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52160"/>
            <a:ext cx="5303520" cy="5486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441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浏览器兼容性测试截图 | 移动端响应式展示]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852160"/>
            <a:ext cx="5303520" cy="5486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604418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[此处插入: Druid监控面板截图 | 性能测试数据]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09 技术问题与解决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8个技术问题全部攻克 (Page 1/2)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开发过程中遇到的关键技术难点及解决方案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24/31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7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问题1: Vant4组件名变更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GoodsAction→ActionBar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查阅CHANGELOG迁移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07007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问题2: 高分辨率手机误判PC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1080px手机显示PC布局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UA+触摸+宽度三维检测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8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问题3: Vite代理rewrite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/api/路径不匹配Controller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去rewrite+统一路径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56616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75888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问题4: Banner时间过滤NULL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startTime NULL→不命中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SQL增加IS NULL OR判断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09 技术问题与解决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8个技术问题全部攻克 (Page 2/2)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项目经验总结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25/31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7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问题5: Linux MySQL Socket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localhost→socket连接失败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JDBC URL改为127.0.0.1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07007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问题6: SPA路由刷新500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/admin直接访问报500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SpaFilter最高优先级转发index.html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8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问题7: 文件上传boundary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手动设Content-Type缺boundary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让axios自动生成请求头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349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56616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75888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问题8: 注册密码双重BCrypt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现象: Controller+Service各自加密</a:t>
            </a:r>
          </a:p>
          <a:p>
            <a:pPr algn="l">
              <a:spcBef>
                <a:spcPts val="600"/>
              </a:spcBef>
              <a:defRPr sz="1200">
                <a:solidFill>
                  <a:srgbClr val="059669"/>
                </a:solidFill>
                <a:latin typeface="Microsoft YaHei"/>
              </a:defRPr>
            </a:pPr>
            <a:r>
              <a:t>解决: 去掉Controller重复编码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069848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8463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项目经验总结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文档先行: 升级依赖前查阅CHANGELOG和Migration Guide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编码规范: 密码加密统一在Service层, Controller只做参数接收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防御编程: SQL查询考虑NULL边界条件 | JDBC优先TCP连接避免Socket路径问题</a:t>
            </a:r>
          </a:p>
          <a:p>
            <a:pPr algn="l">
              <a:spcBef>
                <a:spcPts val="8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代理配置: 理解前端代理路径映射关系 | SPA需配置过滤器回退index.html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10 项目总结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成果汇总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80+源文件 | 19 Controller | 27 Vue页面 | 3终端 | 12张表 | 37测试 | 25+提交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26/31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16459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80+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源文件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Java+Vue+ArkTS+SQL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097280"/>
            <a:ext cx="35661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34416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5公共+5用户+9管理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097280"/>
            <a:ext cx="356616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34416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2468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业务逻辑完整实现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17520"/>
            <a:ext cx="3566160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6440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全部逻辑删除+快照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017520"/>
            <a:ext cx="3566160" cy="16459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326440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Vue页面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15用户+12管理+双端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017520"/>
            <a:ext cx="356616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326440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终端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Web+PC+鸿蒙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3566160" cy="1645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8464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37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测试用例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09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100%通过率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4937760"/>
            <a:ext cx="3566160" cy="1645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19" y="518464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25+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Git提交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6309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完整开发日志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4937760"/>
            <a:ext cx="3566160" cy="16459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5184648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64MB</a:t>
            </a:r>
          </a:p>
          <a:p>
            <a:pPr algn="ctr">
              <a:spcBef>
                <a:spcPts val="400"/>
              </a:spcBef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FatJAR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6309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前后端一体化部署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10 项目总结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核心创新点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五大创新 + 技术难度/实用价值星级评估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27/31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492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534924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AI客服 + RAG简化实现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DeepSeek大模型+关联词引擎(11品类60+词)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自然语言→商品推荐→聊天卡片→购买</a:t>
            </a:r>
          </a:p>
          <a:p>
            <a:pPr algn="l">
              <a:spcBef>
                <a:spcPts val="400"/>
              </a:spcBef>
              <a:defRPr sz="1000">
                <a:solidFill>
                  <a:srgbClr val="EA580C"/>
                </a:solidFill>
                <a:latin typeface="Microsoft YaHei"/>
              </a:defRPr>
            </a:pPr>
            <a:r>
              <a:t>技术难度: ★★★★ | 实用价值: ★★★★★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3492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34924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07007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三维设备检测策略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UA+触摸屏+宽度三维判定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解决高分辨率手机误判PC端问题</a:t>
            </a:r>
          </a:p>
          <a:p>
            <a:pPr algn="l">
              <a:spcBef>
                <a:spcPts val="400"/>
              </a:spcBef>
              <a:defRPr sz="1000">
                <a:solidFill>
                  <a:srgbClr val="EA580C"/>
                </a:solidFill>
                <a:latin typeface="Microsoft YaHei"/>
              </a:defRPr>
            </a:pPr>
            <a:r>
              <a:t>技术难度: ★★★★ | 实用价值: ★★★★★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43200"/>
            <a:ext cx="53492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743200"/>
            <a:ext cx="534924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52928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GPS/IP双重定位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W3C Geolocation→PermissionDenied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→Nominatim→ipapi→ipsb回退</a:t>
            </a:r>
          </a:p>
          <a:p>
            <a:pPr algn="l">
              <a:spcBef>
                <a:spcPts val="400"/>
              </a:spcBef>
              <a:defRPr sz="1000">
                <a:solidFill>
                  <a:srgbClr val="EA580C"/>
                </a:solidFill>
                <a:latin typeface="Microsoft YaHei"/>
              </a:defRPr>
            </a:pPr>
            <a:r>
              <a:t>技术难度: ★★★★ | 实用价值: ★★★★★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43200"/>
            <a:ext cx="53492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743200"/>
            <a:ext cx="534924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852928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前后端一体化部署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Vue dist→SpringBoot static→Maven Package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FatJAR 64MB, java -jar一键启动</a:t>
            </a:r>
          </a:p>
          <a:p>
            <a:pPr algn="l">
              <a:spcBef>
                <a:spcPts val="400"/>
              </a:spcBef>
              <a:defRPr sz="1000">
                <a:solidFill>
                  <a:srgbClr val="EA580C"/>
                </a:solidFill>
                <a:latin typeface="Microsoft YaHei"/>
              </a:defRPr>
            </a:pPr>
            <a:r>
              <a:t>技术难度: ★★★★ | 实用价值: ★★★★★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53492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534924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498848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12张表完整数据模型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订单快照机制+逻辑删除+雪花ID</a:t>
            </a:r>
          </a:p>
          <a:p>
            <a:pPr algn="l">
              <a:spcBef>
                <a:spcPts val="3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覆盖商品/订单/用户/内容全链路</a:t>
            </a:r>
          </a:p>
          <a:p>
            <a:pPr algn="l">
              <a:spcBef>
                <a:spcPts val="400"/>
              </a:spcBef>
              <a:defRPr sz="1000">
                <a:solidFill>
                  <a:srgbClr val="EA580C"/>
                </a:solidFill>
                <a:latin typeface="Microsoft YaHei"/>
              </a:defRPr>
            </a:pPr>
            <a:r>
              <a:t>技术难度: ★★★★ | 实用价值: ★★★★★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4864" cy="4572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8E"/>
                </a:solidFill>
                <a:latin typeface="Microsoft YaHei"/>
              </a:defRPr>
            </a:pPr>
            <a:r>
              <a:t>10 项目总结</a:t>
            </a:r>
          </a:p>
          <a:p>
            <a:pPr algn="l">
              <a:defRPr sz="2600" b="1">
                <a:solidFill>
                  <a:srgbClr val="1E293B"/>
                </a:solidFill>
                <a:latin typeface="Microsoft YaHei"/>
              </a:defRPr>
            </a:pPr>
            <a:r>
              <a:t>不足与改进方向</a:t>
            </a:r>
          </a:p>
          <a:p>
            <a:pPr algn="l">
              <a:spcBef>
                <a:spcPts val="200"/>
              </a:spcBef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六维度持续优化路径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李鑫 | 202330302152 | 指导教师: 彭德宇 | 28/31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419088"/>
            <a:ext cx="10698480" cy="914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661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7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支付真实化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当前: 模拟支付→状态流转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改进: 接入支付宝/微信支付SDK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 真实回调+签名验证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097280"/>
            <a:ext cx="3566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1097280"/>
            <a:ext cx="35661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7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AI推荐精准化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当前: 关联词映射→DB搜索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改进: 向量数据库语义搜索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 协同过滤+深度学习推荐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097280"/>
            <a:ext cx="3566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19" y="1097280"/>
            <a:ext cx="3566160" cy="45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207007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Microsoft YaHei"/>
              </a:defRPr>
            </a:pPr>
            <a:r>
              <a:t>图片存储优化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当前: base64存DB longtext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改进: 迁移OSS对象存储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 URL引用, 按需加载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566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66160" cy="457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50208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性能优化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当前: 单体应用 单机部署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改进: Redis缓存+MQ异步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 SpringCloud微服务化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3840480"/>
            <a:ext cx="3566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97679" y="3840480"/>
            <a:ext cx="3566160" cy="4572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950208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408E"/>
                </a:solidFill>
                <a:latin typeface="Microsoft YaHei"/>
              </a:defRPr>
            </a:pPr>
            <a:r>
              <a:t>功能扩展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当前: 覆盖电商核心流程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改进: 优惠券/秒杀/物流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 ECharts数据可视化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840480"/>
            <a:ext cx="356616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19" y="3840480"/>
            <a:ext cx="3566160" cy="45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950208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安全增强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当前: BCrypt+JWT+Auth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改进: HTTPS+验证码防刷</a:t>
            </a:r>
          </a:p>
          <a:p>
            <a:pPr algn="l">
              <a:spcBef>
                <a:spcPts val="600"/>
              </a:spcBef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→ 接口限流+审计日志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4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恳请各位老师批评指正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114800"/>
            <a:ext cx="5760720" cy="91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"柒玖商店" — 基于SpringBoot多前端多平台的商城系统</a:t>
            </a:r>
          </a:p>
          <a:p>
            <a:pPr algn="ctr">
              <a:spcBef>
                <a:spcPts val="800"/>
              </a:spcBef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李 鑫 | 202330302152 | 软件技术 2307 班 | 彭德宇 老师 |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